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63" r:id="rId2"/>
    <p:sldId id="266" r:id="rId3"/>
    <p:sldId id="278" r:id="rId4"/>
    <p:sldId id="279" r:id="rId5"/>
    <p:sldId id="280" r:id="rId6"/>
    <p:sldId id="290" r:id="rId7"/>
    <p:sldId id="282" r:id="rId8"/>
    <p:sldId id="288" r:id="rId9"/>
    <p:sldId id="283" r:id="rId10"/>
    <p:sldId id="295" r:id="rId11"/>
    <p:sldId id="306" r:id="rId12"/>
    <p:sldId id="307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27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1"/>
    <p:restoredTop sz="94740"/>
  </p:normalViewPr>
  <p:slideViewPr>
    <p:cSldViewPr snapToGrid="0">
      <p:cViewPr varScale="1">
        <p:scale>
          <a:sx n="124" d="100"/>
          <a:sy n="124" d="100"/>
        </p:scale>
        <p:origin x="9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71E64-B4EF-4B40-B724-CEB241626157}" type="datetimeFigureOut">
              <a:rPr lang="en-US" smtClean="0"/>
              <a:t>1/20/25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811F99-C2D7-914A-BF64-E3395516B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00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11F99-C2D7-914A-BF64-E3395516B29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74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EA21-B6FD-50BC-7F77-32D751D79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26792-E6EA-D39C-F19F-6B32AB8570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704FE-0040-EF46-BDDC-31471E93A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3F338-E3AD-9BDA-D8B9-138D3840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405F7-F79C-DEAB-DE9B-52EBBAFB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89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B914A-6549-A2D0-82B0-1D0E70416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2CA81-ABE5-4E86-45CA-0408F3E20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56DD1-A474-8F4D-429F-FB71FF80D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2A4FE-649C-8F90-ACF5-77C6A9876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22A07-1E7E-BCAA-8692-DA4F97C59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74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22700-2D7B-7571-7221-A4F34F7B5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73DA9-E2EE-D14E-1FF9-6C79C219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28951-08C5-7B16-D406-D4122C01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DFDED-0DA2-14FF-19C2-56AEB6FB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EE75A-7863-A617-E2B8-EEE8E98F5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30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2FAF9-C9EA-D5E7-89A5-E8EF5133A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49F44-62A0-04CB-F206-682EEBD212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67EC7-EF12-367F-14A4-B933E046F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D9EFB-75F3-B21D-43B3-680BBF188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F2944-2C2A-E635-ECB8-3C107AC4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EDB37-0DCF-6177-D06F-976141239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05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6B971-AFBB-02C3-394A-17AF7D9F0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CE77A-99EF-1CF8-6749-50B37E4DF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AD8119-4B65-116F-F6D3-218022455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D2F12D-B57E-FBDC-F6DF-881D4F4F03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E4026E-4103-1A45-2E5D-C14BF6469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F4CD6A-BECD-8E9F-1DB1-27A829C18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352731-169A-CCA2-527F-302F0FF0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835027-7759-6EB1-2402-F7363D90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18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D356C-6313-87DE-5689-75E5DEF8C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831324-BB31-701D-64BD-85AF953B0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9C582D-2193-3EDC-B29C-933B1C74F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3CE92-B42C-7996-A27E-3419630D4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407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6B4446-64C8-04B4-966B-3DC9D9F62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EEDF6B-424A-BBAD-A91A-F5BBED6DB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8DE4B-EE51-08AC-A338-A88C60B03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9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D4AC1-2F38-3AED-BF22-F641B73FD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BF347-7B42-ACDA-0C22-85C36B266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5D379-3FDE-DD0A-869F-3FC4166D6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2AE869-8B54-BD8E-F417-7EFD4CA4C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71229-62F3-AABF-CCA0-0A3C19FE7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FF10F-3E6B-72F0-617B-CFF1493B5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278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BBF84-BBF3-64D0-7FC0-39851F510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1FBFB0-FBCD-3F15-EC3D-E1831ED0C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CE49B-2F70-D904-DD0D-B1A071473A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E022B-BC7A-A0FF-65D8-2AE044196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6B233-15CC-4F01-87D2-31A10D998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E022-4ABD-9CFE-F4FD-FA129E9E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07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F529-7156-0061-3ECA-D85B7BB7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E1EE2-DFEB-A9B8-6069-6ED87A535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DB751-0D10-0249-FCB4-CB14E7279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98A3E-FB4A-278B-3D0B-E2A67AC2B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95186-DF5E-B6E4-4DB3-1204D8C8A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200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9744A-94E4-EF87-61F9-039BC58B96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FD76F-5468-330A-6BE8-A16FE0E6F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42B65-503A-EFA4-4217-6330028B3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6AD67-DD87-E644-3981-6A75CC10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3C3FE-B807-E1CD-7C24-A45852926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1802A1-FBCA-D415-ECB4-26B0F956E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03BE1-8B79-AC72-F43B-8BA19EC29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DE4EE-88D7-D5BC-FB75-8FFB27DBFD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35F10-9AD9-9C43-8528-A461A66E7819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E19F3-EBE6-D883-C587-1110D3278C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8C41A-DD08-3884-A4E5-4F746DDAE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432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groups/13117017/" TargetMode="External"/><Relationship Id="rId5" Type="http://schemas.openxmlformats.org/officeDocument/2006/relationships/hyperlink" Target="https://discord.gg/WpUc2ZYHmE" TargetMode="External"/><Relationship Id="rId4" Type="http://schemas.openxmlformats.org/officeDocument/2006/relationships/hyperlink" Target="https://www.linkedin.com/in/dmytro-halchenko-0307751b6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A11D47-F369-B453-58C8-8CAC3D5E6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A20256-1A6D-CAE1-B216-5DDF6EB85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0045" y="2044556"/>
            <a:ext cx="5624118" cy="2586181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GB" b="1" dirty="0"/>
              <a:t>Redis and Rate Limiting with Java</a:t>
            </a:r>
            <a:br>
              <a:rPr lang="en-GB" b="1" dirty="0"/>
            </a:br>
            <a:endParaRPr lang="en-US" b="1" dirty="0">
              <a:gradFill flip="none" rotWithShape="1">
                <a:gsLst>
                  <a:gs pos="7000">
                    <a:schemeClr val="tx2">
                      <a:lumMod val="50000"/>
                      <a:lumOff val="50000"/>
                    </a:schemeClr>
                  </a:gs>
                  <a:gs pos="35000">
                    <a:schemeClr val="accent5">
                      <a:lumMod val="60000"/>
                      <a:lumOff val="40000"/>
                    </a:schemeClr>
                  </a:gs>
                  <a:gs pos="76000">
                    <a:srgbClr val="0070C0"/>
                  </a:gs>
                  <a:gs pos="97000">
                    <a:schemeClr val="tx2">
                      <a:lumMod val="75000"/>
                      <a:lumOff val="2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18D32C3D-8F76-4E99-BE56-0836CC38C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493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70766076-46F5-42D5-A773-2B3BEF2B8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5575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FC6B51-5BEB-5201-327C-7FDC5A2B75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89"/>
          <a:stretch/>
        </p:blipFill>
        <p:spPr>
          <a:xfrm>
            <a:off x="-1507" y="10"/>
            <a:ext cx="5205951" cy="6857990"/>
          </a:xfrm>
          <a:custGeom>
            <a:avLst/>
            <a:gdLst/>
            <a:ahLst/>
            <a:cxnLst/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CB7B90D9-1EC2-4A12-B24A-342C1BCA2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59072" y="0"/>
            <a:ext cx="2845372" cy="6858000"/>
          </a:xfrm>
          <a:custGeom>
            <a:avLst/>
            <a:gdLst>
              <a:gd name="connsiteX0" fmla="*/ 939908 w 2845372"/>
              <a:gd name="connsiteY0" fmla="*/ 0 h 6858000"/>
              <a:gd name="connsiteX1" fmla="*/ 1222349 w 2845372"/>
              <a:gd name="connsiteY1" fmla="*/ 0 h 6858000"/>
              <a:gd name="connsiteX2" fmla="*/ 1244473 w 2845372"/>
              <a:gd name="connsiteY2" fmla="*/ 14997 h 6858000"/>
              <a:gd name="connsiteX3" fmla="*/ 2845372 w 2845372"/>
              <a:gd name="connsiteY3" fmla="*/ 3621656 h 6858000"/>
              <a:gd name="connsiteX4" fmla="*/ 971022 w 2845372"/>
              <a:gd name="connsiteY4" fmla="*/ 6374814 h 6858000"/>
              <a:gd name="connsiteX5" fmla="*/ 454374 w 2845372"/>
              <a:gd name="connsiteY5" fmla="*/ 6780599 h 6858000"/>
              <a:gd name="connsiteX6" fmla="*/ 342618 w 2845372"/>
              <a:gd name="connsiteY6" fmla="*/ 6858000 h 6858000"/>
              <a:gd name="connsiteX7" fmla="*/ 129116 w 2845372"/>
              <a:gd name="connsiteY7" fmla="*/ 6858000 h 6858000"/>
              <a:gd name="connsiteX8" fmla="*/ 0 w 2845372"/>
              <a:gd name="connsiteY8" fmla="*/ 6858000 h 6858000"/>
              <a:gd name="connsiteX9" fmla="*/ 119401 w 2845372"/>
              <a:gd name="connsiteY9" fmla="*/ 6780599 h 6858000"/>
              <a:gd name="connsiteX10" fmla="*/ 671389 w 2845372"/>
              <a:gd name="connsiteY10" fmla="*/ 6374814 h 6858000"/>
              <a:gd name="connsiteX11" fmla="*/ 2673952 w 2845372"/>
              <a:gd name="connsiteY11" fmla="*/ 3621656 h 6858000"/>
              <a:gd name="connsiteX12" fmla="*/ 963545 w 2845372"/>
              <a:gd name="connsiteY12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45372" h="6858000">
                <a:moveTo>
                  <a:pt x="939908" y="0"/>
                </a:moveTo>
                <a:lnTo>
                  <a:pt x="1222349" y="0"/>
                </a:lnTo>
                <a:lnTo>
                  <a:pt x="1244473" y="14997"/>
                </a:lnTo>
                <a:cubicBezTo>
                  <a:pt x="2271636" y="754641"/>
                  <a:pt x="2845372" y="2093192"/>
                  <a:pt x="2845372" y="3621656"/>
                </a:cubicBezTo>
                <a:cubicBezTo>
                  <a:pt x="2845372" y="4969131"/>
                  <a:pt x="1916647" y="5602839"/>
                  <a:pt x="971022" y="6374814"/>
                </a:cubicBezTo>
                <a:cubicBezTo>
                  <a:pt x="798819" y="6515397"/>
                  <a:pt x="628192" y="6653108"/>
                  <a:pt x="454374" y="6780599"/>
                </a:cubicBezTo>
                <a:lnTo>
                  <a:pt x="342618" y="6858000"/>
                </a:lnTo>
                <a:lnTo>
                  <a:pt x="129116" y="6858000"/>
                </a:lnTo>
                <a:lnTo>
                  <a:pt x="0" y="6858000"/>
                </a:lnTo>
                <a:lnTo>
                  <a:pt x="119401" y="6780599"/>
                </a:lnTo>
                <a:cubicBezTo>
                  <a:pt x="305108" y="6653108"/>
                  <a:pt x="487407" y="6515397"/>
                  <a:pt x="671389" y="6374814"/>
                </a:cubicBezTo>
                <a:cubicBezTo>
                  <a:pt x="1681699" y="5602839"/>
                  <a:pt x="2673952" y="4969131"/>
                  <a:pt x="2673952" y="3621656"/>
                </a:cubicBezTo>
                <a:cubicBezTo>
                  <a:pt x="2673952" y="2093192"/>
                  <a:pt x="2060970" y="754641"/>
                  <a:pt x="963545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97F2BF42-5836-E52D-CA81-10F06F939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6709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DF3EA3-D512-00F5-F67E-0030BDF4B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8D783D-0828-BD4F-9785-5EB5C9A552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37"/>
          <a:stretch/>
        </p:blipFill>
        <p:spPr>
          <a:xfrm>
            <a:off x="2522358" y="365125"/>
            <a:ext cx="9669642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F9AF0D-790B-2655-621A-9D8A2A0F6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Redis</a:t>
            </a:r>
            <a:endParaRPr lang="en-US" sz="40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014A52-5D07-D8A0-D867-DCE10ACDA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6466726" cy="3742762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Redis (Remote Dictionary Server) is a source-available, in-memory data store widely used as a distributed key–value database, cache, and message broker, with optional durability features. Its in-memory design enables low-latency reads and writes, making it particularly effective for caching and real-time applications. As the most popular NoSQL database, Redis is also recognized as one of the most widely used databases overall, catering to a variety of high-performance use cases.</a:t>
            </a:r>
            <a:endParaRPr lang="en-GB" sz="24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0781133A-158F-578F-4E40-789678553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A4308B-23C9-D58B-B71F-9F85E5D16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413" y="1602769"/>
            <a:ext cx="2907587" cy="290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802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CB3240-5622-FC4F-C401-C57B423CA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050AD81-8E2C-AFAA-4835-02702A943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ue and white sky&#10;&#10;Description automatically generated">
            <a:extLst>
              <a:ext uri="{FF2B5EF4-FFF2-40B4-BE49-F238E27FC236}">
                <a16:creationId xmlns:a16="http://schemas.microsoft.com/office/drawing/2014/main" id="{F3547AC5-5027-1443-2A52-6C0A7C4FC9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6237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B98B9A4-FBB3-A77C-F251-73A336541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990A23-A61A-220F-22E6-8B9F3CCB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752" y="0"/>
            <a:ext cx="5898951" cy="1273474"/>
          </a:xfrm>
        </p:spPr>
        <p:txBody>
          <a:bodyPr>
            <a:normAutofit/>
          </a:bodyPr>
          <a:lstStyle/>
          <a:p>
            <a:r>
              <a:rPr lang="en-US" sz="4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Main Redis Data Types</a:t>
            </a:r>
            <a:endParaRPr lang="en-US" sz="40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2854F60-F791-CA3C-C237-2D1C7B4B3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5157" y="456777"/>
            <a:ext cx="5386702" cy="56257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A simple key-value pair</a:t>
            </a:r>
          </a:p>
          <a:p>
            <a:pPr marL="0" indent="0">
              <a:buNone/>
            </a:pPr>
            <a:r>
              <a:rPr lang="en-US" sz="2000" dirty="0"/>
              <a:t>Command: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Example: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Jedis example (Java):</a:t>
            </a:r>
          </a:p>
          <a:p>
            <a:pPr marL="0" indent="0">
              <a:buNone/>
            </a:pPr>
            <a:br>
              <a:rPr lang="en-US" sz="2000" dirty="0"/>
            </a:br>
            <a:endParaRPr lang="en-US" sz="20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108F3736-B5E6-6B60-85BA-67EA91313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sp>
        <p:nvSpPr>
          <p:cNvPr id="6" name="Freeform 29">
            <a:extLst>
              <a:ext uri="{FF2B5EF4-FFF2-40B4-BE49-F238E27FC236}">
                <a16:creationId xmlns:a16="http://schemas.microsoft.com/office/drawing/2014/main" id="{FBFA0FD9-4A54-9A8A-FE97-9E8F4C693B22}"/>
              </a:ext>
            </a:extLst>
          </p:cNvPr>
          <p:cNvSpPr>
            <a:spLocks noChangeAspect="1"/>
          </p:cNvSpPr>
          <p:nvPr/>
        </p:nvSpPr>
        <p:spPr bwMode="auto">
          <a:xfrm>
            <a:off x="247130" y="1273474"/>
            <a:ext cx="1563151" cy="1406835"/>
          </a:xfrm>
          <a:custGeom>
            <a:avLst/>
            <a:gdLst>
              <a:gd name="T0" fmla="*/ 780 w 1103"/>
              <a:gd name="T1" fmla="*/ 0 h 986"/>
              <a:gd name="T2" fmla="*/ 780 w 1103"/>
              <a:gd name="T3" fmla="*/ 0 h 986"/>
              <a:gd name="T4" fmla="*/ 791 w 1103"/>
              <a:gd name="T5" fmla="*/ 3 h 986"/>
              <a:gd name="T6" fmla="*/ 802 w 1103"/>
              <a:gd name="T7" fmla="*/ 6 h 986"/>
              <a:gd name="T8" fmla="*/ 827 w 1103"/>
              <a:gd name="T9" fmla="*/ 14 h 986"/>
              <a:gd name="T10" fmla="*/ 847 w 1103"/>
              <a:gd name="T11" fmla="*/ 30 h 986"/>
              <a:gd name="T12" fmla="*/ 855 w 1103"/>
              <a:gd name="T13" fmla="*/ 39 h 986"/>
              <a:gd name="T14" fmla="*/ 863 w 1103"/>
              <a:gd name="T15" fmla="*/ 50 h 986"/>
              <a:gd name="T16" fmla="*/ 1089 w 1103"/>
              <a:gd name="T17" fmla="*/ 445 h 986"/>
              <a:gd name="T18" fmla="*/ 1089 w 1103"/>
              <a:gd name="T19" fmla="*/ 445 h 986"/>
              <a:gd name="T20" fmla="*/ 1095 w 1103"/>
              <a:gd name="T21" fmla="*/ 456 h 986"/>
              <a:gd name="T22" fmla="*/ 1100 w 1103"/>
              <a:gd name="T23" fmla="*/ 467 h 986"/>
              <a:gd name="T24" fmla="*/ 1103 w 1103"/>
              <a:gd name="T25" fmla="*/ 494 h 986"/>
              <a:gd name="T26" fmla="*/ 1100 w 1103"/>
              <a:gd name="T27" fmla="*/ 519 h 986"/>
              <a:gd name="T28" fmla="*/ 1095 w 1103"/>
              <a:gd name="T29" fmla="*/ 530 h 986"/>
              <a:gd name="T30" fmla="*/ 1089 w 1103"/>
              <a:gd name="T31" fmla="*/ 541 h 986"/>
              <a:gd name="T32" fmla="*/ 863 w 1103"/>
              <a:gd name="T33" fmla="*/ 939 h 986"/>
              <a:gd name="T34" fmla="*/ 863 w 1103"/>
              <a:gd name="T35" fmla="*/ 939 h 986"/>
              <a:gd name="T36" fmla="*/ 855 w 1103"/>
              <a:gd name="T37" fmla="*/ 947 h 986"/>
              <a:gd name="T38" fmla="*/ 847 w 1103"/>
              <a:gd name="T39" fmla="*/ 956 h 986"/>
              <a:gd name="T40" fmla="*/ 827 w 1103"/>
              <a:gd name="T41" fmla="*/ 972 h 986"/>
              <a:gd name="T42" fmla="*/ 802 w 1103"/>
              <a:gd name="T43" fmla="*/ 983 h 986"/>
              <a:gd name="T44" fmla="*/ 791 w 1103"/>
              <a:gd name="T45" fmla="*/ 986 h 986"/>
              <a:gd name="T46" fmla="*/ 780 w 1103"/>
              <a:gd name="T47" fmla="*/ 986 h 986"/>
              <a:gd name="T48" fmla="*/ 323 w 1103"/>
              <a:gd name="T49" fmla="*/ 986 h 986"/>
              <a:gd name="T50" fmla="*/ 323 w 1103"/>
              <a:gd name="T51" fmla="*/ 986 h 986"/>
              <a:gd name="T52" fmla="*/ 309 w 1103"/>
              <a:gd name="T53" fmla="*/ 986 h 986"/>
              <a:gd name="T54" fmla="*/ 298 w 1103"/>
              <a:gd name="T55" fmla="*/ 983 h 986"/>
              <a:gd name="T56" fmla="*/ 276 w 1103"/>
              <a:gd name="T57" fmla="*/ 972 h 986"/>
              <a:gd name="T58" fmla="*/ 254 w 1103"/>
              <a:gd name="T59" fmla="*/ 956 h 986"/>
              <a:gd name="T60" fmla="*/ 245 w 1103"/>
              <a:gd name="T61" fmla="*/ 947 h 986"/>
              <a:gd name="T62" fmla="*/ 240 w 1103"/>
              <a:gd name="T63" fmla="*/ 939 h 986"/>
              <a:gd name="T64" fmla="*/ 11 w 1103"/>
              <a:gd name="T65" fmla="*/ 541 h 986"/>
              <a:gd name="T66" fmla="*/ 11 w 1103"/>
              <a:gd name="T67" fmla="*/ 541 h 986"/>
              <a:gd name="T68" fmla="*/ 6 w 1103"/>
              <a:gd name="T69" fmla="*/ 530 h 986"/>
              <a:gd name="T70" fmla="*/ 3 w 1103"/>
              <a:gd name="T71" fmla="*/ 519 h 986"/>
              <a:gd name="T72" fmla="*/ 0 w 1103"/>
              <a:gd name="T73" fmla="*/ 494 h 986"/>
              <a:gd name="T74" fmla="*/ 3 w 1103"/>
              <a:gd name="T75" fmla="*/ 467 h 986"/>
              <a:gd name="T76" fmla="*/ 6 w 1103"/>
              <a:gd name="T77" fmla="*/ 456 h 986"/>
              <a:gd name="T78" fmla="*/ 11 w 1103"/>
              <a:gd name="T79" fmla="*/ 445 h 986"/>
              <a:gd name="T80" fmla="*/ 240 w 1103"/>
              <a:gd name="T81" fmla="*/ 50 h 986"/>
              <a:gd name="T82" fmla="*/ 240 w 1103"/>
              <a:gd name="T83" fmla="*/ 50 h 986"/>
              <a:gd name="T84" fmla="*/ 245 w 1103"/>
              <a:gd name="T85" fmla="*/ 39 h 986"/>
              <a:gd name="T86" fmla="*/ 254 w 1103"/>
              <a:gd name="T87" fmla="*/ 30 h 986"/>
              <a:gd name="T88" fmla="*/ 276 w 1103"/>
              <a:gd name="T89" fmla="*/ 14 h 986"/>
              <a:gd name="T90" fmla="*/ 298 w 1103"/>
              <a:gd name="T91" fmla="*/ 6 h 986"/>
              <a:gd name="T92" fmla="*/ 309 w 1103"/>
              <a:gd name="T93" fmla="*/ 3 h 986"/>
              <a:gd name="T94" fmla="*/ 323 w 1103"/>
              <a:gd name="T95" fmla="*/ 0 h 986"/>
              <a:gd name="T96" fmla="*/ 780 w 1103"/>
              <a:gd name="T9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03" h="986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gradFill>
            <a:gsLst>
              <a:gs pos="3000">
                <a:schemeClr val="accent2"/>
              </a:gs>
              <a:gs pos="37000">
                <a:schemeClr val="accent5"/>
              </a:gs>
              <a:gs pos="95000">
                <a:schemeClr val="accent4"/>
              </a:gs>
            </a:gsLst>
            <a:lin ang="1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1400" b="1" dirty="0">
                <a:solidFill>
                  <a:schemeClr val="bg1"/>
                </a:solidFill>
              </a:rPr>
              <a:t>Strings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084635-E87B-6467-7B2B-F08F26C7B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9194" y="2235200"/>
            <a:ext cx="2400300" cy="1193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B3AE63-B510-6140-BD99-86E81B23F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9194" y="1385392"/>
            <a:ext cx="1511300" cy="228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24F9BEB-5F1A-5EC4-CA2B-3307BB1030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4052" y="4303712"/>
            <a:ext cx="4305300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95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7D6BB3-AB66-4B3E-DACB-FE0663FB3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1AE2E9F-B3E1-A663-F85E-8A22F037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ue and white sky&#10;&#10;Description automatically generated">
            <a:extLst>
              <a:ext uri="{FF2B5EF4-FFF2-40B4-BE49-F238E27FC236}">
                <a16:creationId xmlns:a16="http://schemas.microsoft.com/office/drawing/2014/main" id="{5A4F555A-0DCB-16BC-802D-9D3366F5B4C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6237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A6F265D-4DA5-8A44-4175-0EEB6C3BB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32ECBE-1BBD-87BE-5215-B7B41F7F8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752" y="0"/>
            <a:ext cx="5077019" cy="912441"/>
          </a:xfrm>
        </p:spPr>
        <p:txBody>
          <a:bodyPr>
            <a:normAutofit/>
          </a:bodyPr>
          <a:lstStyle/>
          <a:p>
            <a:r>
              <a:rPr lang="en-US" sz="4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Main Redis Data Types</a:t>
            </a:r>
            <a:endParaRPr lang="en-US" sz="40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DAB0FB0-C95A-D9DC-254A-F43FE3433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7098" y="551234"/>
            <a:ext cx="5386702" cy="56257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Ordered collection of strings.</a:t>
            </a:r>
          </a:p>
          <a:p>
            <a:pPr marL="0" indent="0">
              <a:buNone/>
            </a:pPr>
            <a:r>
              <a:rPr lang="en-US" sz="2000" dirty="0"/>
              <a:t>Command: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Example: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Jedis example (Java):</a:t>
            </a:r>
          </a:p>
          <a:p>
            <a:pPr marL="0" indent="0">
              <a:buNone/>
            </a:pP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A392666A-7988-5B06-B876-441B4EE83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sp>
        <p:nvSpPr>
          <p:cNvPr id="6" name="Freeform 29">
            <a:extLst>
              <a:ext uri="{FF2B5EF4-FFF2-40B4-BE49-F238E27FC236}">
                <a16:creationId xmlns:a16="http://schemas.microsoft.com/office/drawing/2014/main" id="{87E5F8F0-CD03-FA4D-4500-5AFDC26617B4}"/>
              </a:ext>
            </a:extLst>
          </p:cNvPr>
          <p:cNvSpPr>
            <a:spLocks noChangeAspect="1"/>
          </p:cNvSpPr>
          <p:nvPr/>
        </p:nvSpPr>
        <p:spPr bwMode="auto">
          <a:xfrm>
            <a:off x="1590270" y="2054291"/>
            <a:ext cx="1563151" cy="1406835"/>
          </a:xfrm>
          <a:custGeom>
            <a:avLst/>
            <a:gdLst>
              <a:gd name="T0" fmla="*/ 780 w 1103"/>
              <a:gd name="T1" fmla="*/ 0 h 986"/>
              <a:gd name="T2" fmla="*/ 780 w 1103"/>
              <a:gd name="T3" fmla="*/ 0 h 986"/>
              <a:gd name="T4" fmla="*/ 791 w 1103"/>
              <a:gd name="T5" fmla="*/ 3 h 986"/>
              <a:gd name="T6" fmla="*/ 802 w 1103"/>
              <a:gd name="T7" fmla="*/ 6 h 986"/>
              <a:gd name="T8" fmla="*/ 827 w 1103"/>
              <a:gd name="T9" fmla="*/ 14 h 986"/>
              <a:gd name="T10" fmla="*/ 847 w 1103"/>
              <a:gd name="T11" fmla="*/ 30 h 986"/>
              <a:gd name="T12" fmla="*/ 855 w 1103"/>
              <a:gd name="T13" fmla="*/ 39 h 986"/>
              <a:gd name="T14" fmla="*/ 863 w 1103"/>
              <a:gd name="T15" fmla="*/ 50 h 986"/>
              <a:gd name="T16" fmla="*/ 1089 w 1103"/>
              <a:gd name="T17" fmla="*/ 445 h 986"/>
              <a:gd name="T18" fmla="*/ 1089 w 1103"/>
              <a:gd name="T19" fmla="*/ 445 h 986"/>
              <a:gd name="T20" fmla="*/ 1095 w 1103"/>
              <a:gd name="T21" fmla="*/ 456 h 986"/>
              <a:gd name="T22" fmla="*/ 1100 w 1103"/>
              <a:gd name="T23" fmla="*/ 467 h 986"/>
              <a:gd name="T24" fmla="*/ 1103 w 1103"/>
              <a:gd name="T25" fmla="*/ 494 h 986"/>
              <a:gd name="T26" fmla="*/ 1100 w 1103"/>
              <a:gd name="T27" fmla="*/ 519 h 986"/>
              <a:gd name="T28" fmla="*/ 1095 w 1103"/>
              <a:gd name="T29" fmla="*/ 530 h 986"/>
              <a:gd name="T30" fmla="*/ 1089 w 1103"/>
              <a:gd name="T31" fmla="*/ 541 h 986"/>
              <a:gd name="T32" fmla="*/ 863 w 1103"/>
              <a:gd name="T33" fmla="*/ 939 h 986"/>
              <a:gd name="T34" fmla="*/ 863 w 1103"/>
              <a:gd name="T35" fmla="*/ 939 h 986"/>
              <a:gd name="T36" fmla="*/ 855 w 1103"/>
              <a:gd name="T37" fmla="*/ 947 h 986"/>
              <a:gd name="T38" fmla="*/ 847 w 1103"/>
              <a:gd name="T39" fmla="*/ 956 h 986"/>
              <a:gd name="T40" fmla="*/ 827 w 1103"/>
              <a:gd name="T41" fmla="*/ 972 h 986"/>
              <a:gd name="T42" fmla="*/ 802 w 1103"/>
              <a:gd name="T43" fmla="*/ 983 h 986"/>
              <a:gd name="T44" fmla="*/ 791 w 1103"/>
              <a:gd name="T45" fmla="*/ 986 h 986"/>
              <a:gd name="T46" fmla="*/ 780 w 1103"/>
              <a:gd name="T47" fmla="*/ 986 h 986"/>
              <a:gd name="T48" fmla="*/ 323 w 1103"/>
              <a:gd name="T49" fmla="*/ 986 h 986"/>
              <a:gd name="T50" fmla="*/ 323 w 1103"/>
              <a:gd name="T51" fmla="*/ 986 h 986"/>
              <a:gd name="T52" fmla="*/ 309 w 1103"/>
              <a:gd name="T53" fmla="*/ 986 h 986"/>
              <a:gd name="T54" fmla="*/ 298 w 1103"/>
              <a:gd name="T55" fmla="*/ 983 h 986"/>
              <a:gd name="T56" fmla="*/ 276 w 1103"/>
              <a:gd name="T57" fmla="*/ 972 h 986"/>
              <a:gd name="T58" fmla="*/ 254 w 1103"/>
              <a:gd name="T59" fmla="*/ 956 h 986"/>
              <a:gd name="T60" fmla="*/ 245 w 1103"/>
              <a:gd name="T61" fmla="*/ 947 h 986"/>
              <a:gd name="T62" fmla="*/ 240 w 1103"/>
              <a:gd name="T63" fmla="*/ 939 h 986"/>
              <a:gd name="T64" fmla="*/ 11 w 1103"/>
              <a:gd name="T65" fmla="*/ 541 h 986"/>
              <a:gd name="T66" fmla="*/ 11 w 1103"/>
              <a:gd name="T67" fmla="*/ 541 h 986"/>
              <a:gd name="T68" fmla="*/ 6 w 1103"/>
              <a:gd name="T69" fmla="*/ 530 h 986"/>
              <a:gd name="T70" fmla="*/ 3 w 1103"/>
              <a:gd name="T71" fmla="*/ 519 h 986"/>
              <a:gd name="T72" fmla="*/ 0 w 1103"/>
              <a:gd name="T73" fmla="*/ 494 h 986"/>
              <a:gd name="T74" fmla="*/ 3 w 1103"/>
              <a:gd name="T75" fmla="*/ 467 h 986"/>
              <a:gd name="T76" fmla="*/ 6 w 1103"/>
              <a:gd name="T77" fmla="*/ 456 h 986"/>
              <a:gd name="T78" fmla="*/ 11 w 1103"/>
              <a:gd name="T79" fmla="*/ 445 h 986"/>
              <a:gd name="T80" fmla="*/ 240 w 1103"/>
              <a:gd name="T81" fmla="*/ 50 h 986"/>
              <a:gd name="T82" fmla="*/ 240 w 1103"/>
              <a:gd name="T83" fmla="*/ 50 h 986"/>
              <a:gd name="T84" fmla="*/ 245 w 1103"/>
              <a:gd name="T85" fmla="*/ 39 h 986"/>
              <a:gd name="T86" fmla="*/ 254 w 1103"/>
              <a:gd name="T87" fmla="*/ 30 h 986"/>
              <a:gd name="T88" fmla="*/ 276 w 1103"/>
              <a:gd name="T89" fmla="*/ 14 h 986"/>
              <a:gd name="T90" fmla="*/ 298 w 1103"/>
              <a:gd name="T91" fmla="*/ 6 h 986"/>
              <a:gd name="T92" fmla="*/ 309 w 1103"/>
              <a:gd name="T93" fmla="*/ 3 h 986"/>
              <a:gd name="T94" fmla="*/ 323 w 1103"/>
              <a:gd name="T95" fmla="*/ 0 h 986"/>
              <a:gd name="T96" fmla="*/ 780 w 1103"/>
              <a:gd name="T9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03" h="986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gradFill>
            <a:gsLst>
              <a:gs pos="3000">
                <a:schemeClr val="accent2"/>
              </a:gs>
              <a:gs pos="37000">
                <a:schemeClr val="accent5"/>
              </a:gs>
              <a:gs pos="95000">
                <a:schemeClr val="accent4"/>
              </a:gs>
            </a:gsLst>
            <a:lin ang="1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1400" b="1" dirty="0">
                <a:solidFill>
                  <a:schemeClr val="bg1"/>
                </a:solidFill>
              </a:rPr>
              <a:t>Lists</a:t>
            </a:r>
          </a:p>
        </p:txBody>
      </p:sp>
      <p:sp>
        <p:nvSpPr>
          <p:cNvPr id="8" name="Freeform 29">
            <a:extLst>
              <a:ext uri="{FF2B5EF4-FFF2-40B4-BE49-F238E27FC236}">
                <a16:creationId xmlns:a16="http://schemas.microsoft.com/office/drawing/2014/main" id="{602BD6FF-B7C8-4785-3A10-0B4A269A2653}"/>
              </a:ext>
            </a:extLst>
          </p:cNvPr>
          <p:cNvSpPr>
            <a:spLocks noChangeAspect="1"/>
          </p:cNvSpPr>
          <p:nvPr/>
        </p:nvSpPr>
        <p:spPr bwMode="auto">
          <a:xfrm>
            <a:off x="247130" y="1273474"/>
            <a:ext cx="1563151" cy="1406835"/>
          </a:xfrm>
          <a:custGeom>
            <a:avLst/>
            <a:gdLst>
              <a:gd name="T0" fmla="*/ 780 w 1103"/>
              <a:gd name="T1" fmla="*/ 0 h 986"/>
              <a:gd name="T2" fmla="*/ 780 w 1103"/>
              <a:gd name="T3" fmla="*/ 0 h 986"/>
              <a:gd name="T4" fmla="*/ 791 w 1103"/>
              <a:gd name="T5" fmla="*/ 3 h 986"/>
              <a:gd name="T6" fmla="*/ 802 w 1103"/>
              <a:gd name="T7" fmla="*/ 6 h 986"/>
              <a:gd name="T8" fmla="*/ 827 w 1103"/>
              <a:gd name="T9" fmla="*/ 14 h 986"/>
              <a:gd name="T10" fmla="*/ 847 w 1103"/>
              <a:gd name="T11" fmla="*/ 30 h 986"/>
              <a:gd name="T12" fmla="*/ 855 w 1103"/>
              <a:gd name="T13" fmla="*/ 39 h 986"/>
              <a:gd name="T14" fmla="*/ 863 w 1103"/>
              <a:gd name="T15" fmla="*/ 50 h 986"/>
              <a:gd name="T16" fmla="*/ 1089 w 1103"/>
              <a:gd name="T17" fmla="*/ 445 h 986"/>
              <a:gd name="T18" fmla="*/ 1089 w 1103"/>
              <a:gd name="T19" fmla="*/ 445 h 986"/>
              <a:gd name="T20" fmla="*/ 1095 w 1103"/>
              <a:gd name="T21" fmla="*/ 456 h 986"/>
              <a:gd name="T22" fmla="*/ 1100 w 1103"/>
              <a:gd name="T23" fmla="*/ 467 h 986"/>
              <a:gd name="T24" fmla="*/ 1103 w 1103"/>
              <a:gd name="T25" fmla="*/ 494 h 986"/>
              <a:gd name="T26" fmla="*/ 1100 w 1103"/>
              <a:gd name="T27" fmla="*/ 519 h 986"/>
              <a:gd name="T28" fmla="*/ 1095 w 1103"/>
              <a:gd name="T29" fmla="*/ 530 h 986"/>
              <a:gd name="T30" fmla="*/ 1089 w 1103"/>
              <a:gd name="T31" fmla="*/ 541 h 986"/>
              <a:gd name="T32" fmla="*/ 863 w 1103"/>
              <a:gd name="T33" fmla="*/ 939 h 986"/>
              <a:gd name="T34" fmla="*/ 863 w 1103"/>
              <a:gd name="T35" fmla="*/ 939 h 986"/>
              <a:gd name="T36" fmla="*/ 855 w 1103"/>
              <a:gd name="T37" fmla="*/ 947 h 986"/>
              <a:gd name="T38" fmla="*/ 847 w 1103"/>
              <a:gd name="T39" fmla="*/ 956 h 986"/>
              <a:gd name="T40" fmla="*/ 827 w 1103"/>
              <a:gd name="T41" fmla="*/ 972 h 986"/>
              <a:gd name="T42" fmla="*/ 802 w 1103"/>
              <a:gd name="T43" fmla="*/ 983 h 986"/>
              <a:gd name="T44" fmla="*/ 791 w 1103"/>
              <a:gd name="T45" fmla="*/ 986 h 986"/>
              <a:gd name="T46" fmla="*/ 780 w 1103"/>
              <a:gd name="T47" fmla="*/ 986 h 986"/>
              <a:gd name="T48" fmla="*/ 323 w 1103"/>
              <a:gd name="T49" fmla="*/ 986 h 986"/>
              <a:gd name="T50" fmla="*/ 323 w 1103"/>
              <a:gd name="T51" fmla="*/ 986 h 986"/>
              <a:gd name="T52" fmla="*/ 309 w 1103"/>
              <a:gd name="T53" fmla="*/ 986 h 986"/>
              <a:gd name="T54" fmla="*/ 298 w 1103"/>
              <a:gd name="T55" fmla="*/ 983 h 986"/>
              <a:gd name="T56" fmla="*/ 276 w 1103"/>
              <a:gd name="T57" fmla="*/ 972 h 986"/>
              <a:gd name="T58" fmla="*/ 254 w 1103"/>
              <a:gd name="T59" fmla="*/ 956 h 986"/>
              <a:gd name="T60" fmla="*/ 245 w 1103"/>
              <a:gd name="T61" fmla="*/ 947 h 986"/>
              <a:gd name="T62" fmla="*/ 240 w 1103"/>
              <a:gd name="T63" fmla="*/ 939 h 986"/>
              <a:gd name="T64" fmla="*/ 11 w 1103"/>
              <a:gd name="T65" fmla="*/ 541 h 986"/>
              <a:gd name="T66" fmla="*/ 11 w 1103"/>
              <a:gd name="T67" fmla="*/ 541 h 986"/>
              <a:gd name="T68" fmla="*/ 6 w 1103"/>
              <a:gd name="T69" fmla="*/ 530 h 986"/>
              <a:gd name="T70" fmla="*/ 3 w 1103"/>
              <a:gd name="T71" fmla="*/ 519 h 986"/>
              <a:gd name="T72" fmla="*/ 0 w 1103"/>
              <a:gd name="T73" fmla="*/ 494 h 986"/>
              <a:gd name="T74" fmla="*/ 3 w 1103"/>
              <a:gd name="T75" fmla="*/ 467 h 986"/>
              <a:gd name="T76" fmla="*/ 6 w 1103"/>
              <a:gd name="T77" fmla="*/ 456 h 986"/>
              <a:gd name="T78" fmla="*/ 11 w 1103"/>
              <a:gd name="T79" fmla="*/ 445 h 986"/>
              <a:gd name="T80" fmla="*/ 240 w 1103"/>
              <a:gd name="T81" fmla="*/ 50 h 986"/>
              <a:gd name="T82" fmla="*/ 240 w 1103"/>
              <a:gd name="T83" fmla="*/ 50 h 986"/>
              <a:gd name="T84" fmla="*/ 245 w 1103"/>
              <a:gd name="T85" fmla="*/ 39 h 986"/>
              <a:gd name="T86" fmla="*/ 254 w 1103"/>
              <a:gd name="T87" fmla="*/ 30 h 986"/>
              <a:gd name="T88" fmla="*/ 276 w 1103"/>
              <a:gd name="T89" fmla="*/ 14 h 986"/>
              <a:gd name="T90" fmla="*/ 298 w 1103"/>
              <a:gd name="T91" fmla="*/ 6 h 986"/>
              <a:gd name="T92" fmla="*/ 309 w 1103"/>
              <a:gd name="T93" fmla="*/ 3 h 986"/>
              <a:gd name="T94" fmla="*/ 323 w 1103"/>
              <a:gd name="T95" fmla="*/ 0 h 986"/>
              <a:gd name="T96" fmla="*/ 780 w 1103"/>
              <a:gd name="T9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03" h="986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solidFill>
            <a:schemeClr val="bg1"/>
          </a:solidFill>
          <a:ln w="25400" cap="flat" cmpd="sng" algn="ctr">
            <a:gradFill>
              <a:gsLst>
                <a:gs pos="7000">
                  <a:schemeClr val="accent2"/>
                </a:gs>
                <a:gs pos="50000">
                  <a:schemeClr val="accent5"/>
                </a:gs>
                <a:gs pos="100000">
                  <a:schemeClr val="accent4"/>
                </a:gs>
              </a:gsLst>
              <a:lin ang="300000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1400" b="1" dirty="0">
                <a:solidFill>
                  <a:schemeClr val="accent5"/>
                </a:solidFill>
              </a:rPr>
              <a:t>Strings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171FD1-1653-8FAE-993C-56C1DE25A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5" y="1388581"/>
            <a:ext cx="1854200" cy="279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510271-6FD2-B6EC-0584-7664AC34F0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475" y="1800291"/>
            <a:ext cx="1790700" cy="254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370601-C63A-BE0C-D816-7E2F689328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4475" y="2505328"/>
            <a:ext cx="4544624" cy="16426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DADC5A-66F3-B31E-5E5C-4036D0B4A6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6858" y="4985310"/>
            <a:ext cx="4424864" cy="72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712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3C1D7D-8765-6227-BEF5-79EB7D94F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F2385FC-D890-6629-5D05-835ADBC76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ue and white sky&#10;&#10;Description automatically generated">
            <a:extLst>
              <a:ext uri="{FF2B5EF4-FFF2-40B4-BE49-F238E27FC236}">
                <a16:creationId xmlns:a16="http://schemas.microsoft.com/office/drawing/2014/main" id="{1BCBDC96-B563-2532-D176-76FAEA56EA7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6237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6C2B48E-E89B-8419-3460-0AD937542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BF298A-2628-6DCB-01E8-3CF27D0E4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752" y="0"/>
            <a:ext cx="4809891" cy="912441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Main Redis Data Types</a:t>
            </a:r>
            <a:endParaRPr lang="en-US" sz="40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151E2E5-7FF4-0AC7-81ED-C2E20202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7098" y="551234"/>
            <a:ext cx="5386702" cy="5625729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Key-value pairs within a key.</a:t>
            </a:r>
          </a:p>
          <a:p>
            <a:pPr marL="0" indent="0">
              <a:buNone/>
            </a:pPr>
            <a:r>
              <a:rPr lang="en-US" sz="2000" dirty="0"/>
              <a:t>Command: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Example: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Jedis example (Java):</a:t>
            </a:r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9FEDFA82-547B-1746-B9E9-AA56A40A3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sp>
        <p:nvSpPr>
          <p:cNvPr id="6" name="Freeform 29">
            <a:extLst>
              <a:ext uri="{FF2B5EF4-FFF2-40B4-BE49-F238E27FC236}">
                <a16:creationId xmlns:a16="http://schemas.microsoft.com/office/drawing/2014/main" id="{4034A83A-680E-36FE-7BB7-FB0FF8FCC7BF}"/>
              </a:ext>
            </a:extLst>
          </p:cNvPr>
          <p:cNvSpPr>
            <a:spLocks noChangeAspect="1"/>
          </p:cNvSpPr>
          <p:nvPr/>
        </p:nvSpPr>
        <p:spPr bwMode="auto">
          <a:xfrm>
            <a:off x="1590270" y="2054291"/>
            <a:ext cx="1563151" cy="1406835"/>
          </a:xfrm>
          <a:custGeom>
            <a:avLst/>
            <a:gdLst>
              <a:gd name="T0" fmla="*/ 780 w 1103"/>
              <a:gd name="T1" fmla="*/ 0 h 986"/>
              <a:gd name="T2" fmla="*/ 780 w 1103"/>
              <a:gd name="T3" fmla="*/ 0 h 986"/>
              <a:gd name="T4" fmla="*/ 791 w 1103"/>
              <a:gd name="T5" fmla="*/ 3 h 986"/>
              <a:gd name="T6" fmla="*/ 802 w 1103"/>
              <a:gd name="T7" fmla="*/ 6 h 986"/>
              <a:gd name="T8" fmla="*/ 827 w 1103"/>
              <a:gd name="T9" fmla="*/ 14 h 986"/>
              <a:gd name="T10" fmla="*/ 847 w 1103"/>
              <a:gd name="T11" fmla="*/ 30 h 986"/>
              <a:gd name="T12" fmla="*/ 855 w 1103"/>
              <a:gd name="T13" fmla="*/ 39 h 986"/>
              <a:gd name="T14" fmla="*/ 863 w 1103"/>
              <a:gd name="T15" fmla="*/ 50 h 986"/>
              <a:gd name="T16" fmla="*/ 1089 w 1103"/>
              <a:gd name="T17" fmla="*/ 445 h 986"/>
              <a:gd name="T18" fmla="*/ 1089 w 1103"/>
              <a:gd name="T19" fmla="*/ 445 h 986"/>
              <a:gd name="T20" fmla="*/ 1095 w 1103"/>
              <a:gd name="T21" fmla="*/ 456 h 986"/>
              <a:gd name="T22" fmla="*/ 1100 w 1103"/>
              <a:gd name="T23" fmla="*/ 467 h 986"/>
              <a:gd name="T24" fmla="*/ 1103 w 1103"/>
              <a:gd name="T25" fmla="*/ 494 h 986"/>
              <a:gd name="T26" fmla="*/ 1100 w 1103"/>
              <a:gd name="T27" fmla="*/ 519 h 986"/>
              <a:gd name="T28" fmla="*/ 1095 w 1103"/>
              <a:gd name="T29" fmla="*/ 530 h 986"/>
              <a:gd name="T30" fmla="*/ 1089 w 1103"/>
              <a:gd name="T31" fmla="*/ 541 h 986"/>
              <a:gd name="T32" fmla="*/ 863 w 1103"/>
              <a:gd name="T33" fmla="*/ 939 h 986"/>
              <a:gd name="T34" fmla="*/ 863 w 1103"/>
              <a:gd name="T35" fmla="*/ 939 h 986"/>
              <a:gd name="T36" fmla="*/ 855 w 1103"/>
              <a:gd name="T37" fmla="*/ 947 h 986"/>
              <a:gd name="T38" fmla="*/ 847 w 1103"/>
              <a:gd name="T39" fmla="*/ 956 h 986"/>
              <a:gd name="T40" fmla="*/ 827 w 1103"/>
              <a:gd name="T41" fmla="*/ 972 h 986"/>
              <a:gd name="T42" fmla="*/ 802 w 1103"/>
              <a:gd name="T43" fmla="*/ 983 h 986"/>
              <a:gd name="T44" fmla="*/ 791 w 1103"/>
              <a:gd name="T45" fmla="*/ 986 h 986"/>
              <a:gd name="T46" fmla="*/ 780 w 1103"/>
              <a:gd name="T47" fmla="*/ 986 h 986"/>
              <a:gd name="T48" fmla="*/ 323 w 1103"/>
              <a:gd name="T49" fmla="*/ 986 h 986"/>
              <a:gd name="T50" fmla="*/ 323 w 1103"/>
              <a:gd name="T51" fmla="*/ 986 h 986"/>
              <a:gd name="T52" fmla="*/ 309 w 1103"/>
              <a:gd name="T53" fmla="*/ 986 h 986"/>
              <a:gd name="T54" fmla="*/ 298 w 1103"/>
              <a:gd name="T55" fmla="*/ 983 h 986"/>
              <a:gd name="T56" fmla="*/ 276 w 1103"/>
              <a:gd name="T57" fmla="*/ 972 h 986"/>
              <a:gd name="T58" fmla="*/ 254 w 1103"/>
              <a:gd name="T59" fmla="*/ 956 h 986"/>
              <a:gd name="T60" fmla="*/ 245 w 1103"/>
              <a:gd name="T61" fmla="*/ 947 h 986"/>
              <a:gd name="T62" fmla="*/ 240 w 1103"/>
              <a:gd name="T63" fmla="*/ 939 h 986"/>
              <a:gd name="T64" fmla="*/ 11 w 1103"/>
              <a:gd name="T65" fmla="*/ 541 h 986"/>
              <a:gd name="T66" fmla="*/ 11 w 1103"/>
              <a:gd name="T67" fmla="*/ 541 h 986"/>
              <a:gd name="T68" fmla="*/ 6 w 1103"/>
              <a:gd name="T69" fmla="*/ 530 h 986"/>
              <a:gd name="T70" fmla="*/ 3 w 1103"/>
              <a:gd name="T71" fmla="*/ 519 h 986"/>
              <a:gd name="T72" fmla="*/ 0 w 1103"/>
              <a:gd name="T73" fmla="*/ 494 h 986"/>
              <a:gd name="T74" fmla="*/ 3 w 1103"/>
              <a:gd name="T75" fmla="*/ 467 h 986"/>
              <a:gd name="T76" fmla="*/ 6 w 1103"/>
              <a:gd name="T77" fmla="*/ 456 h 986"/>
              <a:gd name="T78" fmla="*/ 11 w 1103"/>
              <a:gd name="T79" fmla="*/ 445 h 986"/>
              <a:gd name="T80" fmla="*/ 240 w 1103"/>
              <a:gd name="T81" fmla="*/ 50 h 986"/>
              <a:gd name="T82" fmla="*/ 240 w 1103"/>
              <a:gd name="T83" fmla="*/ 50 h 986"/>
              <a:gd name="T84" fmla="*/ 245 w 1103"/>
              <a:gd name="T85" fmla="*/ 39 h 986"/>
              <a:gd name="T86" fmla="*/ 254 w 1103"/>
              <a:gd name="T87" fmla="*/ 30 h 986"/>
              <a:gd name="T88" fmla="*/ 276 w 1103"/>
              <a:gd name="T89" fmla="*/ 14 h 986"/>
              <a:gd name="T90" fmla="*/ 298 w 1103"/>
              <a:gd name="T91" fmla="*/ 6 h 986"/>
              <a:gd name="T92" fmla="*/ 309 w 1103"/>
              <a:gd name="T93" fmla="*/ 3 h 986"/>
              <a:gd name="T94" fmla="*/ 323 w 1103"/>
              <a:gd name="T95" fmla="*/ 0 h 986"/>
              <a:gd name="T96" fmla="*/ 780 w 1103"/>
              <a:gd name="T9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03" h="986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gradFill>
            <a:gsLst>
              <a:gs pos="3000">
                <a:schemeClr val="accent2"/>
              </a:gs>
              <a:gs pos="37000">
                <a:schemeClr val="accent5"/>
              </a:gs>
              <a:gs pos="95000">
                <a:schemeClr val="accent4"/>
              </a:gs>
            </a:gsLst>
            <a:lin ang="1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1400" b="1" dirty="0">
                <a:solidFill>
                  <a:schemeClr val="bg1"/>
                </a:solidFill>
              </a:rPr>
              <a:t>Step </a:t>
            </a:r>
            <a:r>
              <a:rPr lang="uk-UA" sz="1400" b="1" dirty="0">
                <a:solidFill>
                  <a:schemeClr val="bg1"/>
                </a:solidFill>
              </a:rPr>
              <a:t>2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8" name="Freeform 29">
            <a:extLst>
              <a:ext uri="{FF2B5EF4-FFF2-40B4-BE49-F238E27FC236}">
                <a16:creationId xmlns:a16="http://schemas.microsoft.com/office/drawing/2014/main" id="{C0A5A89C-EDD2-336A-3E9D-A43EF5C8E61E}"/>
              </a:ext>
            </a:extLst>
          </p:cNvPr>
          <p:cNvSpPr>
            <a:spLocks noChangeAspect="1"/>
          </p:cNvSpPr>
          <p:nvPr/>
        </p:nvSpPr>
        <p:spPr bwMode="auto">
          <a:xfrm>
            <a:off x="247130" y="1273474"/>
            <a:ext cx="1563151" cy="1406835"/>
          </a:xfrm>
          <a:custGeom>
            <a:avLst/>
            <a:gdLst>
              <a:gd name="T0" fmla="*/ 780 w 1103"/>
              <a:gd name="T1" fmla="*/ 0 h 986"/>
              <a:gd name="T2" fmla="*/ 780 w 1103"/>
              <a:gd name="T3" fmla="*/ 0 h 986"/>
              <a:gd name="T4" fmla="*/ 791 w 1103"/>
              <a:gd name="T5" fmla="*/ 3 h 986"/>
              <a:gd name="T6" fmla="*/ 802 w 1103"/>
              <a:gd name="T7" fmla="*/ 6 h 986"/>
              <a:gd name="T8" fmla="*/ 827 w 1103"/>
              <a:gd name="T9" fmla="*/ 14 h 986"/>
              <a:gd name="T10" fmla="*/ 847 w 1103"/>
              <a:gd name="T11" fmla="*/ 30 h 986"/>
              <a:gd name="T12" fmla="*/ 855 w 1103"/>
              <a:gd name="T13" fmla="*/ 39 h 986"/>
              <a:gd name="T14" fmla="*/ 863 w 1103"/>
              <a:gd name="T15" fmla="*/ 50 h 986"/>
              <a:gd name="T16" fmla="*/ 1089 w 1103"/>
              <a:gd name="T17" fmla="*/ 445 h 986"/>
              <a:gd name="T18" fmla="*/ 1089 w 1103"/>
              <a:gd name="T19" fmla="*/ 445 h 986"/>
              <a:gd name="T20" fmla="*/ 1095 w 1103"/>
              <a:gd name="T21" fmla="*/ 456 h 986"/>
              <a:gd name="T22" fmla="*/ 1100 w 1103"/>
              <a:gd name="T23" fmla="*/ 467 h 986"/>
              <a:gd name="T24" fmla="*/ 1103 w 1103"/>
              <a:gd name="T25" fmla="*/ 494 h 986"/>
              <a:gd name="T26" fmla="*/ 1100 w 1103"/>
              <a:gd name="T27" fmla="*/ 519 h 986"/>
              <a:gd name="T28" fmla="*/ 1095 w 1103"/>
              <a:gd name="T29" fmla="*/ 530 h 986"/>
              <a:gd name="T30" fmla="*/ 1089 w 1103"/>
              <a:gd name="T31" fmla="*/ 541 h 986"/>
              <a:gd name="T32" fmla="*/ 863 w 1103"/>
              <a:gd name="T33" fmla="*/ 939 h 986"/>
              <a:gd name="T34" fmla="*/ 863 w 1103"/>
              <a:gd name="T35" fmla="*/ 939 h 986"/>
              <a:gd name="T36" fmla="*/ 855 w 1103"/>
              <a:gd name="T37" fmla="*/ 947 h 986"/>
              <a:gd name="T38" fmla="*/ 847 w 1103"/>
              <a:gd name="T39" fmla="*/ 956 h 986"/>
              <a:gd name="T40" fmla="*/ 827 w 1103"/>
              <a:gd name="T41" fmla="*/ 972 h 986"/>
              <a:gd name="T42" fmla="*/ 802 w 1103"/>
              <a:gd name="T43" fmla="*/ 983 h 986"/>
              <a:gd name="T44" fmla="*/ 791 w 1103"/>
              <a:gd name="T45" fmla="*/ 986 h 986"/>
              <a:gd name="T46" fmla="*/ 780 w 1103"/>
              <a:gd name="T47" fmla="*/ 986 h 986"/>
              <a:gd name="T48" fmla="*/ 323 w 1103"/>
              <a:gd name="T49" fmla="*/ 986 h 986"/>
              <a:gd name="T50" fmla="*/ 323 w 1103"/>
              <a:gd name="T51" fmla="*/ 986 h 986"/>
              <a:gd name="T52" fmla="*/ 309 w 1103"/>
              <a:gd name="T53" fmla="*/ 986 h 986"/>
              <a:gd name="T54" fmla="*/ 298 w 1103"/>
              <a:gd name="T55" fmla="*/ 983 h 986"/>
              <a:gd name="T56" fmla="*/ 276 w 1103"/>
              <a:gd name="T57" fmla="*/ 972 h 986"/>
              <a:gd name="T58" fmla="*/ 254 w 1103"/>
              <a:gd name="T59" fmla="*/ 956 h 986"/>
              <a:gd name="T60" fmla="*/ 245 w 1103"/>
              <a:gd name="T61" fmla="*/ 947 h 986"/>
              <a:gd name="T62" fmla="*/ 240 w 1103"/>
              <a:gd name="T63" fmla="*/ 939 h 986"/>
              <a:gd name="T64" fmla="*/ 11 w 1103"/>
              <a:gd name="T65" fmla="*/ 541 h 986"/>
              <a:gd name="T66" fmla="*/ 11 w 1103"/>
              <a:gd name="T67" fmla="*/ 541 h 986"/>
              <a:gd name="T68" fmla="*/ 6 w 1103"/>
              <a:gd name="T69" fmla="*/ 530 h 986"/>
              <a:gd name="T70" fmla="*/ 3 w 1103"/>
              <a:gd name="T71" fmla="*/ 519 h 986"/>
              <a:gd name="T72" fmla="*/ 0 w 1103"/>
              <a:gd name="T73" fmla="*/ 494 h 986"/>
              <a:gd name="T74" fmla="*/ 3 w 1103"/>
              <a:gd name="T75" fmla="*/ 467 h 986"/>
              <a:gd name="T76" fmla="*/ 6 w 1103"/>
              <a:gd name="T77" fmla="*/ 456 h 986"/>
              <a:gd name="T78" fmla="*/ 11 w 1103"/>
              <a:gd name="T79" fmla="*/ 445 h 986"/>
              <a:gd name="T80" fmla="*/ 240 w 1103"/>
              <a:gd name="T81" fmla="*/ 50 h 986"/>
              <a:gd name="T82" fmla="*/ 240 w 1103"/>
              <a:gd name="T83" fmla="*/ 50 h 986"/>
              <a:gd name="T84" fmla="*/ 245 w 1103"/>
              <a:gd name="T85" fmla="*/ 39 h 986"/>
              <a:gd name="T86" fmla="*/ 254 w 1103"/>
              <a:gd name="T87" fmla="*/ 30 h 986"/>
              <a:gd name="T88" fmla="*/ 276 w 1103"/>
              <a:gd name="T89" fmla="*/ 14 h 986"/>
              <a:gd name="T90" fmla="*/ 298 w 1103"/>
              <a:gd name="T91" fmla="*/ 6 h 986"/>
              <a:gd name="T92" fmla="*/ 309 w 1103"/>
              <a:gd name="T93" fmla="*/ 3 h 986"/>
              <a:gd name="T94" fmla="*/ 323 w 1103"/>
              <a:gd name="T95" fmla="*/ 0 h 986"/>
              <a:gd name="T96" fmla="*/ 780 w 1103"/>
              <a:gd name="T9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03" h="986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solidFill>
            <a:schemeClr val="bg1"/>
          </a:solidFill>
          <a:ln w="25400" cap="flat" cmpd="sng" algn="ctr">
            <a:gradFill>
              <a:gsLst>
                <a:gs pos="7000">
                  <a:schemeClr val="accent2"/>
                </a:gs>
                <a:gs pos="50000">
                  <a:schemeClr val="accent5"/>
                </a:gs>
                <a:gs pos="100000">
                  <a:schemeClr val="accent4"/>
                </a:gs>
              </a:gsLst>
              <a:lin ang="300000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1400" b="1" dirty="0">
                <a:solidFill>
                  <a:schemeClr val="accent5"/>
                </a:solidFill>
              </a:rPr>
              <a:t>Strings</a:t>
            </a:r>
          </a:p>
        </p:txBody>
      </p:sp>
      <p:sp>
        <p:nvSpPr>
          <p:cNvPr id="4" name="Freeform 29">
            <a:extLst>
              <a:ext uri="{FF2B5EF4-FFF2-40B4-BE49-F238E27FC236}">
                <a16:creationId xmlns:a16="http://schemas.microsoft.com/office/drawing/2014/main" id="{CFCF9F2E-ADC3-F545-9868-B856863AAA5F}"/>
              </a:ext>
            </a:extLst>
          </p:cNvPr>
          <p:cNvSpPr>
            <a:spLocks noChangeAspect="1"/>
          </p:cNvSpPr>
          <p:nvPr/>
        </p:nvSpPr>
        <p:spPr bwMode="auto">
          <a:xfrm>
            <a:off x="242266" y="2835108"/>
            <a:ext cx="1563151" cy="1406835"/>
          </a:xfrm>
          <a:custGeom>
            <a:avLst/>
            <a:gdLst>
              <a:gd name="T0" fmla="*/ 780 w 1103"/>
              <a:gd name="T1" fmla="*/ 0 h 986"/>
              <a:gd name="T2" fmla="*/ 780 w 1103"/>
              <a:gd name="T3" fmla="*/ 0 h 986"/>
              <a:gd name="T4" fmla="*/ 791 w 1103"/>
              <a:gd name="T5" fmla="*/ 3 h 986"/>
              <a:gd name="T6" fmla="*/ 802 w 1103"/>
              <a:gd name="T7" fmla="*/ 6 h 986"/>
              <a:gd name="T8" fmla="*/ 827 w 1103"/>
              <a:gd name="T9" fmla="*/ 14 h 986"/>
              <a:gd name="T10" fmla="*/ 847 w 1103"/>
              <a:gd name="T11" fmla="*/ 30 h 986"/>
              <a:gd name="T12" fmla="*/ 855 w 1103"/>
              <a:gd name="T13" fmla="*/ 39 h 986"/>
              <a:gd name="T14" fmla="*/ 863 w 1103"/>
              <a:gd name="T15" fmla="*/ 50 h 986"/>
              <a:gd name="T16" fmla="*/ 1089 w 1103"/>
              <a:gd name="T17" fmla="*/ 445 h 986"/>
              <a:gd name="T18" fmla="*/ 1089 w 1103"/>
              <a:gd name="T19" fmla="*/ 445 h 986"/>
              <a:gd name="T20" fmla="*/ 1095 w 1103"/>
              <a:gd name="T21" fmla="*/ 456 h 986"/>
              <a:gd name="T22" fmla="*/ 1100 w 1103"/>
              <a:gd name="T23" fmla="*/ 467 h 986"/>
              <a:gd name="T24" fmla="*/ 1103 w 1103"/>
              <a:gd name="T25" fmla="*/ 494 h 986"/>
              <a:gd name="T26" fmla="*/ 1100 w 1103"/>
              <a:gd name="T27" fmla="*/ 519 h 986"/>
              <a:gd name="T28" fmla="*/ 1095 w 1103"/>
              <a:gd name="T29" fmla="*/ 530 h 986"/>
              <a:gd name="T30" fmla="*/ 1089 w 1103"/>
              <a:gd name="T31" fmla="*/ 541 h 986"/>
              <a:gd name="T32" fmla="*/ 863 w 1103"/>
              <a:gd name="T33" fmla="*/ 939 h 986"/>
              <a:gd name="T34" fmla="*/ 863 w 1103"/>
              <a:gd name="T35" fmla="*/ 939 h 986"/>
              <a:gd name="T36" fmla="*/ 855 w 1103"/>
              <a:gd name="T37" fmla="*/ 947 h 986"/>
              <a:gd name="T38" fmla="*/ 847 w 1103"/>
              <a:gd name="T39" fmla="*/ 956 h 986"/>
              <a:gd name="T40" fmla="*/ 827 w 1103"/>
              <a:gd name="T41" fmla="*/ 972 h 986"/>
              <a:gd name="T42" fmla="*/ 802 w 1103"/>
              <a:gd name="T43" fmla="*/ 983 h 986"/>
              <a:gd name="T44" fmla="*/ 791 w 1103"/>
              <a:gd name="T45" fmla="*/ 986 h 986"/>
              <a:gd name="T46" fmla="*/ 780 w 1103"/>
              <a:gd name="T47" fmla="*/ 986 h 986"/>
              <a:gd name="T48" fmla="*/ 323 w 1103"/>
              <a:gd name="T49" fmla="*/ 986 h 986"/>
              <a:gd name="T50" fmla="*/ 323 w 1103"/>
              <a:gd name="T51" fmla="*/ 986 h 986"/>
              <a:gd name="T52" fmla="*/ 309 w 1103"/>
              <a:gd name="T53" fmla="*/ 986 h 986"/>
              <a:gd name="T54" fmla="*/ 298 w 1103"/>
              <a:gd name="T55" fmla="*/ 983 h 986"/>
              <a:gd name="T56" fmla="*/ 276 w 1103"/>
              <a:gd name="T57" fmla="*/ 972 h 986"/>
              <a:gd name="T58" fmla="*/ 254 w 1103"/>
              <a:gd name="T59" fmla="*/ 956 h 986"/>
              <a:gd name="T60" fmla="*/ 245 w 1103"/>
              <a:gd name="T61" fmla="*/ 947 h 986"/>
              <a:gd name="T62" fmla="*/ 240 w 1103"/>
              <a:gd name="T63" fmla="*/ 939 h 986"/>
              <a:gd name="T64" fmla="*/ 11 w 1103"/>
              <a:gd name="T65" fmla="*/ 541 h 986"/>
              <a:gd name="T66" fmla="*/ 11 w 1103"/>
              <a:gd name="T67" fmla="*/ 541 h 986"/>
              <a:gd name="T68" fmla="*/ 6 w 1103"/>
              <a:gd name="T69" fmla="*/ 530 h 986"/>
              <a:gd name="T70" fmla="*/ 3 w 1103"/>
              <a:gd name="T71" fmla="*/ 519 h 986"/>
              <a:gd name="T72" fmla="*/ 0 w 1103"/>
              <a:gd name="T73" fmla="*/ 494 h 986"/>
              <a:gd name="T74" fmla="*/ 3 w 1103"/>
              <a:gd name="T75" fmla="*/ 467 h 986"/>
              <a:gd name="T76" fmla="*/ 6 w 1103"/>
              <a:gd name="T77" fmla="*/ 456 h 986"/>
              <a:gd name="T78" fmla="*/ 11 w 1103"/>
              <a:gd name="T79" fmla="*/ 445 h 986"/>
              <a:gd name="T80" fmla="*/ 240 w 1103"/>
              <a:gd name="T81" fmla="*/ 50 h 986"/>
              <a:gd name="T82" fmla="*/ 240 w 1103"/>
              <a:gd name="T83" fmla="*/ 50 h 986"/>
              <a:gd name="T84" fmla="*/ 245 w 1103"/>
              <a:gd name="T85" fmla="*/ 39 h 986"/>
              <a:gd name="T86" fmla="*/ 254 w 1103"/>
              <a:gd name="T87" fmla="*/ 30 h 986"/>
              <a:gd name="T88" fmla="*/ 276 w 1103"/>
              <a:gd name="T89" fmla="*/ 14 h 986"/>
              <a:gd name="T90" fmla="*/ 298 w 1103"/>
              <a:gd name="T91" fmla="*/ 6 h 986"/>
              <a:gd name="T92" fmla="*/ 309 w 1103"/>
              <a:gd name="T93" fmla="*/ 3 h 986"/>
              <a:gd name="T94" fmla="*/ 323 w 1103"/>
              <a:gd name="T95" fmla="*/ 0 h 986"/>
              <a:gd name="T96" fmla="*/ 780 w 1103"/>
              <a:gd name="T9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03" h="986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gradFill>
            <a:gsLst>
              <a:gs pos="3000">
                <a:schemeClr val="accent2"/>
              </a:gs>
              <a:gs pos="37000">
                <a:schemeClr val="accent5"/>
              </a:gs>
              <a:gs pos="95000">
                <a:schemeClr val="accent4"/>
              </a:gs>
            </a:gsLst>
            <a:lin ang="1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1400" b="1" dirty="0">
                <a:solidFill>
                  <a:schemeClr val="bg1"/>
                </a:solidFill>
              </a:rPr>
              <a:t>Hashes</a:t>
            </a:r>
          </a:p>
        </p:txBody>
      </p:sp>
      <p:sp>
        <p:nvSpPr>
          <p:cNvPr id="7" name="Freeform 29">
            <a:extLst>
              <a:ext uri="{FF2B5EF4-FFF2-40B4-BE49-F238E27FC236}">
                <a16:creationId xmlns:a16="http://schemas.microsoft.com/office/drawing/2014/main" id="{13CF8F90-C12E-608B-40FD-5C4CE147746D}"/>
              </a:ext>
            </a:extLst>
          </p:cNvPr>
          <p:cNvSpPr>
            <a:spLocks noChangeAspect="1"/>
          </p:cNvSpPr>
          <p:nvPr/>
        </p:nvSpPr>
        <p:spPr bwMode="auto">
          <a:xfrm>
            <a:off x="1595134" y="2054291"/>
            <a:ext cx="1563151" cy="1406835"/>
          </a:xfrm>
          <a:custGeom>
            <a:avLst/>
            <a:gdLst>
              <a:gd name="T0" fmla="*/ 780 w 1103"/>
              <a:gd name="T1" fmla="*/ 0 h 986"/>
              <a:gd name="T2" fmla="*/ 780 w 1103"/>
              <a:gd name="T3" fmla="*/ 0 h 986"/>
              <a:gd name="T4" fmla="*/ 791 w 1103"/>
              <a:gd name="T5" fmla="*/ 3 h 986"/>
              <a:gd name="T6" fmla="*/ 802 w 1103"/>
              <a:gd name="T7" fmla="*/ 6 h 986"/>
              <a:gd name="T8" fmla="*/ 827 w 1103"/>
              <a:gd name="T9" fmla="*/ 14 h 986"/>
              <a:gd name="T10" fmla="*/ 847 w 1103"/>
              <a:gd name="T11" fmla="*/ 30 h 986"/>
              <a:gd name="T12" fmla="*/ 855 w 1103"/>
              <a:gd name="T13" fmla="*/ 39 h 986"/>
              <a:gd name="T14" fmla="*/ 863 w 1103"/>
              <a:gd name="T15" fmla="*/ 50 h 986"/>
              <a:gd name="T16" fmla="*/ 1089 w 1103"/>
              <a:gd name="T17" fmla="*/ 445 h 986"/>
              <a:gd name="T18" fmla="*/ 1089 w 1103"/>
              <a:gd name="T19" fmla="*/ 445 h 986"/>
              <a:gd name="T20" fmla="*/ 1095 w 1103"/>
              <a:gd name="T21" fmla="*/ 456 h 986"/>
              <a:gd name="T22" fmla="*/ 1100 w 1103"/>
              <a:gd name="T23" fmla="*/ 467 h 986"/>
              <a:gd name="T24" fmla="*/ 1103 w 1103"/>
              <a:gd name="T25" fmla="*/ 494 h 986"/>
              <a:gd name="T26" fmla="*/ 1100 w 1103"/>
              <a:gd name="T27" fmla="*/ 519 h 986"/>
              <a:gd name="T28" fmla="*/ 1095 w 1103"/>
              <a:gd name="T29" fmla="*/ 530 h 986"/>
              <a:gd name="T30" fmla="*/ 1089 w 1103"/>
              <a:gd name="T31" fmla="*/ 541 h 986"/>
              <a:gd name="T32" fmla="*/ 863 w 1103"/>
              <a:gd name="T33" fmla="*/ 939 h 986"/>
              <a:gd name="T34" fmla="*/ 863 w 1103"/>
              <a:gd name="T35" fmla="*/ 939 h 986"/>
              <a:gd name="T36" fmla="*/ 855 w 1103"/>
              <a:gd name="T37" fmla="*/ 947 h 986"/>
              <a:gd name="T38" fmla="*/ 847 w 1103"/>
              <a:gd name="T39" fmla="*/ 956 h 986"/>
              <a:gd name="T40" fmla="*/ 827 w 1103"/>
              <a:gd name="T41" fmla="*/ 972 h 986"/>
              <a:gd name="T42" fmla="*/ 802 w 1103"/>
              <a:gd name="T43" fmla="*/ 983 h 986"/>
              <a:gd name="T44" fmla="*/ 791 w 1103"/>
              <a:gd name="T45" fmla="*/ 986 h 986"/>
              <a:gd name="T46" fmla="*/ 780 w 1103"/>
              <a:gd name="T47" fmla="*/ 986 h 986"/>
              <a:gd name="T48" fmla="*/ 323 w 1103"/>
              <a:gd name="T49" fmla="*/ 986 h 986"/>
              <a:gd name="T50" fmla="*/ 323 w 1103"/>
              <a:gd name="T51" fmla="*/ 986 h 986"/>
              <a:gd name="T52" fmla="*/ 309 w 1103"/>
              <a:gd name="T53" fmla="*/ 986 h 986"/>
              <a:gd name="T54" fmla="*/ 298 w 1103"/>
              <a:gd name="T55" fmla="*/ 983 h 986"/>
              <a:gd name="T56" fmla="*/ 276 w 1103"/>
              <a:gd name="T57" fmla="*/ 972 h 986"/>
              <a:gd name="T58" fmla="*/ 254 w 1103"/>
              <a:gd name="T59" fmla="*/ 956 h 986"/>
              <a:gd name="T60" fmla="*/ 245 w 1103"/>
              <a:gd name="T61" fmla="*/ 947 h 986"/>
              <a:gd name="T62" fmla="*/ 240 w 1103"/>
              <a:gd name="T63" fmla="*/ 939 h 986"/>
              <a:gd name="T64" fmla="*/ 11 w 1103"/>
              <a:gd name="T65" fmla="*/ 541 h 986"/>
              <a:gd name="T66" fmla="*/ 11 w 1103"/>
              <a:gd name="T67" fmla="*/ 541 h 986"/>
              <a:gd name="T68" fmla="*/ 6 w 1103"/>
              <a:gd name="T69" fmla="*/ 530 h 986"/>
              <a:gd name="T70" fmla="*/ 3 w 1103"/>
              <a:gd name="T71" fmla="*/ 519 h 986"/>
              <a:gd name="T72" fmla="*/ 0 w 1103"/>
              <a:gd name="T73" fmla="*/ 494 h 986"/>
              <a:gd name="T74" fmla="*/ 3 w 1103"/>
              <a:gd name="T75" fmla="*/ 467 h 986"/>
              <a:gd name="T76" fmla="*/ 6 w 1103"/>
              <a:gd name="T77" fmla="*/ 456 h 986"/>
              <a:gd name="T78" fmla="*/ 11 w 1103"/>
              <a:gd name="T79" fmla="*/ 445 h 986"/>
              <a:gd name="T80" fmla="*/ 240 w 1103"/>
              <a:gd name="T81" fmla="*/ 50 h 986"/>
              <a:gd name="T82" fmla="*/ 240 w 1103"/>
              <a:gd name="T83" fmla="*/ 50 h 986"/>
              <a:gd name="T84" fmla="*/ 245 w 1103"/>
              <a:gd name="T85" fmla="*/ 39 h 986"/>
              <a:gd name="T86" fmla="*/ 254 w 1103"/>
              <a:gd name="T87" fmla="*/ 30 h 986"/>
              <a:gd name="T88" fmla="*/ 276 w 1103"/>
              <a:gd name="T89" fmla="*/ 14 h 986"/>
              <a:gd name="T90" fmla="*/ 298 w 1103"/>
              <a:gd name="T91" fmla="*/ 6 h 986"/>
              <a:gd name="T92" fmla="*/ 309 w 1103"/>
              <a:gd name="T93" fmla="*/ 3 h 986"/>
              <a:gd name="T94" fmla="*/ 323 w 1103"/>
              <a:gd name="T95" fmla="*/ 0 h 986"/>
              <a:gd name="T96" fmla="*/ 780 w 1103"/>
              <a:gd name="T9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03" h="986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solidFill>
            <a:schemeClr val="bg1"/>
          </a:solidFill>
          <a:ln w="25400" cap="flat" cmpd="sng" algn="ctr">
            <a:gradFill>
              <a:gsLst>
                <a:gs pos="7000">
                  <a:schemeClr val="accent2"/>
                </a:gs>
                <a:gs pos="50000">
                  <a:schemeClr val="accent5"/>
                </a:gs>
                <a:gs pos="100000">
                  <a:schemeClr val="accent4"/>
                </a:gs>
              </a:gsLst>
              <a:lin ang="300000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1400" b="1" dirty="0">
                <a:solidFill>
                  <a:schemeClr val="accent5"/>
                </a:solidFill>
              </a:rPr>
              <a:t>Lists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808763-E4C2-0756-6EBF-8BB4635B6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7998" y="1345986"/>
            <a:ext cx="2146300" cy="241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8C22CD-F9DA-6163-7656-0EEB9CEF78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7998" y="1686504"/>
            <a:ext cx="1485900" cy="2413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002B118-49A3-8DC9-B566-316A4C784E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7998" y="2510111"/>
            <a:ext cx="4147820" cy="205682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D27CA57-B1FA-3458-994D-8EA29F86D3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7998" y="4981889"/>
            <a:ext cx="4538027" cy="78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097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4B7B2B-FFCE-6F72-EA75-40ED57B32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92E1CB1-BCAC-50BB-4B95-25975FE0E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ue and white sky&#10;&#10;Description automatically generated">
            <a:extLst>
              <a:ext uri="{FF2B5EF4-FFF2-40B4-BE49-F238E27FC236}">
                <a16:creationId xmlns:a16="http://schemas.microsoft.com/office/drawing/2014/main" id="{F5ADBE5C-3F41-1C13-BA28-4899DF02A62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6237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F628456-FAF9-959F-34E3-00A725E2D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43204A-AB74-4730-EF7D-007BDAF2A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752" y="0"/>
            <a:ext cx="4671195" cy="912441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Main Redis Data Types</a:t>
            </a:r>
            <a:endParaRPr lang="en-US" sz="40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CD1F148-72F7-E8BA-950B-C1D113FC5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7098" y="551234"/>
            <a:ext cx="5386702" cy="56257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Unordered collection of unique strings.</a:t>
            </a:r>
          </a:p>
          <a:p>
            <a:pPr marL="0" indent="0">
              <a:buNone/>
            </a:pPr>
            <a:r>
              <a:rPr lang="en-US" sz="2000" dirty="0"/>
              <a:t>Command: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Example: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Jedis example (Java):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3038D224-ED04-CB44-6860-0EAE17016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sp>
        <p:nvSpPr>
          <p:cNvPr id="6" name="Freeform 29">
            <a:extLst>
              <a:ext uri="{FF2B5EF4-FFF2-40B4-BE49-F238E27FC236}">
                <a16:creationId xmlns:a16="http://schemas.microsoft.com/office/drawing/2014/main" id="{D6E6D7DD-26EB-3946-8641-B4BE3B660886}"/>
              </a:ext>
            </a:extLst>
          </p:cNvPr>
          <p:cNvSpPr>
            <a:spLocks noChangeAspect="1"/>
          </p:cNvSpPr>
          <p:nvPr/>
        </p:nvSpPr>
        <p:spPr bwMode="auto">
          <a:xfrm>
            <a:off x="1590270" y="2054291"/>
            <a:ext cx="1563151" cy="1406835"/>
          </a:xfrm>
          <a:custGeom>
            <a:avLst/>
            <a:gdLst>
              <a:gd name="T0" fmla="*/ 780 w 1103"/>
              <a:gd name="T1" fmla="*/ 0 h 986"/>
              <a:gd name="T2" fmla="*/ 780 w 1103"/>
              <a:gd name="T3" fmla="*/ 0 h 986"/>
              <a:gd name="T4" fmla="*/ 791 w 1103"/>
              <a:gd name="T5" fmla="*/ 3 h 986"/>
              <a:gd name="T6" fmla="*/ 802 w 1103"/>
              <a:gd name="T7" fmla="*/ 6 h 986"/>
              <a:gd name="T8" fmla="*/ 827 w 1103"/>
              <a:gd name="T9" fmla="*/ 14 h 986"/>
              <a:gd name="T10" fmla="*/ 847 w 1103"/>
              <a:gd name="T11" fmla="*/ 30 h 986"/>
              <a:gd name="T12" fmla="*/ 855 w 1103"/>
              <a:gd name="T13" fmla="*/ 39 h 986"/>
              <a:gd name="T14" fmla="*/ 863 w 1103"/>
              <a:gd name="T15" fmla="*/ 50 h 986"/>
              <a:gd name="T16" fmla="*/ 1089 w 1103"/>
              <a:gd name="T17" fmla="*/ 445 h 986"/>
              <a:gd name="T18" fmla="*/ 1089 w 1103"/>
              <a:gd name="T19" fmla="*/ 445 h 986"/>
              <a:gd name="T20" fmla="*/ 1095 w 1103"/>
              <a:gd name="T21" fmla="*/ 456 h 986"/>
              <a:gd name="T22" fmla="*/ 1100 w 1103"/>
              <a:gd name="T23" fmla="*/ 467 h 986"/>
              <a:gd name="T24" fmla="*/ 1103 w 1103"/>
              <a:gd name="T25" fmla="*/ 494 h 986"/>
              <a:gd name="T26" fmla="*/ 1100 w 1103"/>
              <a:gd name="T27" fmla="*/ 519 h 986"/>
              <a:gd name="T28" fmla="*/ 1095 w 1103"/>
              <a:gd name="T29" fmla="*/ 530 h 986"/>
              <a:gd name="T30" fmla="*/ 1089 w 1103"/>
              <a:gd name="T31" fmla="*/ 541 h 986"/>
              <a:gd name="T32" fmla="*/ 863 w 1103"/>
              <a:gd name="T33" fmla="*/ 939 h 986"/>
              <a:gd name="T34" fmla="*/ 863 w 1103"/>
              <a:gd name="T35" fmla="*/ 939 h 986"/>
              <a:gd name="T36" fmla="*/ 855 w 1103"/>
              <a:gd name="T37" fmla="*/ 947 h 986"/>
              <a:gd name="T38" fmla="*/ 847 w 1103"/>
              <a:gd name="T39" fmla="*/ 956 h 986"/>
              <a:gd name="T40" fmla="*/ 827 w 1103"/>
              <a:gd name="T41" fmla="*/ 972 h 986"/>
              <a:gd name="T42" fmla="*/ 802 w 1103"/>
              <a:gd name="T43" fmla="*/ 983 h 986"/>
              <a:gd name="T44" fmla="*/ 791 w 1103"/>
              <a:gd name="T45" fmla="*/ 986 h 986"/>
              <a:gd name="T46" fmla="*/ 780 w 1103"/>
              <a:gd name="T47" fmla="*/ 986 h 986"/>
              <a:gd name="T48" fmla="*/ 323 w 1103"/>
              <a:gd name="T49" fmla="*/ 986 h 986"/>
              <a:gd name="T50" fmla="*/ 323 w 1103"/>
              <a:gd name="T51" fmla="*/ 986 h 986"/>
              <a:gd name="T52" fmla="*/ 309 w 1103"/>
              <a:gd name="T53" fmla="*/ 986 h 986"/>
              <a:gd name="T54" fmla="*/ 298 w 1103"/>
              <a:gd name="T55" fmla="*/ 983 h 986"/>
              <a:gd name="T56" fmla="*/ 276 w 1103"/>
              <a:gd name="T57" fmla="*/ 972 h 986"/>
              <a:gd name="T58" fmla="*/ 254 w 1103"/>
              <a:gd name="T59" fmla="*/ 956 h 986"/>
              <a:gd name="T60" fmla="*/ 245 w 1103"/>
              <a:gd name="T61" fmla="*/ 947 h 986"/>
              <a:gd name="T62" fmla="*/ 240 w 1103"/>
              <a:gd name="T63" fmla="*/ 939 h 986"/>
              <a:gd name="T64" fmla="*/ 11 w 1103"/>
              <a:gd name="T65" fmla="*/ 541 h 986"/>
              <a:gd name="T66" fmla="*/ 11 w 1103"/>
              <a:gd name="T67" fmla="*/ 541 h 986"/>
              <a:gd name="T68" fmla="*/ 6 w 1103"/>
              <a:gd name="T69" fmla="*/ 530 h 986"/>
              <a:gd name="T70" fmla="*/ 3 w 1103"/>
              <a:gd name="T71" fmla="*/ 519 h 986"/>
              <a:gd name="T72" fmla="*/ 0 w 1103"/>
              <a:gd name="T73" fmla="*/ 494 h 986"/>
              <a:gd name="T74" fmla="*/ 3 w 1103"/>
              <a:gd name="T75" fmla="*/ 467 h 986"/>
              <a:gd name="T76" fmla="*/ 6 w 1103"/>
              <a:gd name="T77" fmla="*/ 456 h 986"/>
              <a:gd name="T78" fmla="*/ 11 w 1103"/>
              <a:gd name="T79" fmla="*/ 445 h 986"/>
              <a:gd name="T80" fmla="*/ 240 w 1103"/>
              <a:gd name="T81" fmla="*/ 50 h 986"/>
              <a:gd name="T82" fmla="*/ 240 w 1103"/>
              <a:gd name="T83" fmla="*/ 50 h 986"/>
              <a:gd name="T84" fmla="*/ 245 w 1103"/>
              <a:gd name="T85" fmla="*/ 39 h 986"/>
              <a:gd name="T86" fmla="*/ 254 w 1103"/>
              <a:gd name="T87" fmla="*/ 30 h 986"/>
              <a:gd name="T88" fmla="*/ 276 w 1103"/>
              <a:gd name="T89" fmla="*/ 14 h 986"/>
              <a:gd name="T90" fmla="*/ 298 w 1103"/>
              <a:gd name="T91" fmla="*/ 6 h 986"/>
              <a:gd name="T92" fmla="*/ 309 w 1103"/>
              <a:gd name="T93" fmla="*/ 3 h 986"/>
              <a:gd name="T94" fmla="*/ 323 w 1103"/>
              <a:gd name="T95" fmla="*/ 0 h 986"/>
              <a:gd name="T96" fmla="*/ 780 w 1103"/>
              <a:gd name="T9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03" h="986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gradFill>
            <a:gsLst>
              <a:gs pos="3000">
                <a:schemeClr val="accent2"/>
              </a:gs>
              <a:gs pos="37000">
                <a:schemeClr val="accent5"/>
              </a:gs>
              <a:gs pos="95000">
                <a:schemeClr val="accent4"/>
              </a:gs>
            </a:gsLst>
            <a:lin ang="1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1400" b="1" dirty="0">
                <a:solidFill>
                  <a:schemeClr val="bg1"/>
                </a:solidFill>
              </a:rPr>
              <a:t>Step </a:t>
            </a:r>
            <a:r>
              <a:rPr lang="uk-UA" sz="1400" b="1" dirty="0">
                <a:solidFill>
                  <a:schemeClr val="bg1"/>
                </a:solidFill>
              </a:rPr>
              <a:t>2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8" name="Freeform 29">
            <a:extLst>
              <a:ext uri="{FF2B5EF4-FFF2-40B4-BE49-F238E27FC236}">
                <a16:creationId xmlns:a16="http://schemas.microsoft.com/office/drawing/2014/main" id="{DF27B2EB-2A7A-CAE7-A537-182282CB8BE9}"/>
              </a:ext>
            </a:extLst>
          </p:cNvPr>
          <p:cNvSpPr>
            <a:spLocks noChangeAspect="1"/>
          </p:cNvSpPr>
          <p:nvPr/>
        </p:nvSpPr>
        <p:spPr bwMode="auto">
          <a:xfrm>
            <a:off x="247130" y="1273474"/>
            <a:ext cx="1563151" cy="1406835"/>
          </a:xfrm>
          <a:custGeom>
            <a:avLst/>
            <a:gdLst>
              <a:gd name="T0" fmla="*/ 780 w 1103"/>
              <a:gd name="T1" fmla="*/ 0 h 986"/>
              <a:gd name="T2" fmla="*/ 780 w 1103"/>
              <a:gd name="T3" fmla="*/ 0 h 986"/>
              <a:gd name="T4" fmla="*/ 791 w 1103"/>
              <a:gd name="T5" fmla="*/ 3 h 986"/>
              <a:gd name="T6" fmla="*/ 802 w 1103"/>
              <a:gd name="T7" fmla="*/ 6 h 986"/>
              <a:gd name="T8" fmla="*/ 827 w 1103"/>
              <a:gd name="T9" fmla="*/ 14 h 986"/>
              <a:gd name="T10" fmla="*/ 847 w 1103"/>
              <a:gd name="T11" fmla="*/ 30 h 986"/>
              <a:gd name="T12" fmla="*/ 855 w 1103"/>
              <a:gd name="T13" fmla="*/ 39 h 986"/>
              <a:gd name="T14" fmla="*/ 863 w 1103"/>
              <a:gd name="T15" fmla="*/ 50 h 986"/>
              <a:gd name="T16" fmla="*/ 1089 w 1103"/>
              <a:gd name="T17" fmla="*/ 445 h 986"/>
              <a:gd name="T18" fmla="*/ 1089 w 1103"/>
              <a:gd name="T19" fmla="*/ 445 h 986"/>
              <a:gd name="T20" fmla="*/ 1095 w 1103"/>
              <a:gd name="T21" fmla="*/ 456 h 986"/>
              <a:gd name="T22" fmla="*/ 1100 w 1103"/>
              <a:gd name="T23" fmla="*/ 467 h 986"/>
              <a:gd name="T24" fmla="*/ 1103 w 1103"/>
              <a:gd name="T25" fmla="*/ 494 h 986"/>
              <a:gd name="T26" fmla="*/ 1100 w 1103"/>
              <a:gd name="T27" fmla="*/ 519 h 986"/>
              <a:gd name="T28" fmla="*/ 1095 w 1103"/>
              <a:gd name="T29" fmla="*/ 530 h 986"/>
              <a:gd name="T30" fmla="*/ 1089 w 1103"/>
              <a:gd name="T31" fmla="*/ 541 h 986"/>
              <a:gd name="T32" fmla="*/ 863 w 1103"/>
              <a:gd name="T33" fmla="*/ 939 h 986"/>
              <a:gd name="T34" fmla="*/ 863 w 1103"/>
              <a:gd name="T35" fmla="*/ 939 h 986"/>
              <a:gd name="T36" fmla="*/ 855 w 1103"/>
              <a:gd name="T37" fmla="*/ 947 h 986"/>
              <a:gd name="T38" fmla="*/ 847 w 1103"/>
              <a:gd name="T39" fmla="*/ 956 h 986"/>
              <a:gd name="T40" fmla="*/ 827 w 1103"/>
              <a:gd name="T41" fmla="*/ 972 h 986"/>
              <a:gd name="T42" fmla="*/ 802 w 1103"/>
              <a:gd name="T43" fmla="*/ 983 h 986"/>
              <a:gd name="T44" fmla="*/ 791 w 1103"/>
              <a:gd name="T45" fmla="*/ 986 h 986"/>
              <a:gd name="T46" fmla="*/ 780 w 1103"/>
              <a:gd name="T47" fmla="*/ 986 h 986"/>
              <a:gd name="T48" fmla="*/ 323 w 1103"/>
              <a:gd name="T49" fmla="*/ 986 h 986"/>
              <a:gd name="T50" fmla="*/ 323 w 1103"/>
              <a:gd name="T51" fmla="*/ 986 h 986"/>
              <a:gd name="T52" fmla="*/ 309 w 1103"/>
              <a:gd name="T53" fmla="*/ 986 h 986"/>
              <a:gd name="T54" fmla="*/ 298 w 1103"/>
              <a:gd name="T55" fmla="*/ 983 h 986"/>
              <a:gd name="T56" fmla="*/ 276 w 1103"/>
              <a:gd name="T57" fmla="*/ 972 h 986"/>
              <a:gd name="T58" fmla="*/ 254 w 1103"/>
              <a:gd name="T59" fmla="*/ 956 h 986"/>
              <a:gd name="T60" fmla="*/ 245 w 1103"/>
              <a:gd name="T61" fmla="*/ 947 h 986"/>
              <a:gd name="T62" fmla="*/ 240 w 1103"/>
              <a:gd name="T63" fmla="*/ 939 h 986"/>
              <a:gd name="T64" fmla="*/ 11 w 1103"/>
              <a:gd name="T65" fmla="*/ 541 h 986"/>
              <a:gd name="T66" fmla="*/ 11 w 1103"/>
              <a:gd name="T67" fmla="*/ 541 h 986"/>
              <a:gd name="T68" fmla="*/ 6 w 1103"/>
              <a:gd name="T69" fmla="*/ 530 h 986"/>
              <a:gd name="T70" fmla="*/ 3 w 1103"/>
              <a:gd name="T71" fmla="*/ 519 h 986"/>
              <a:gd name="T72" fmla="*/ 0 w 1103"/>
              <a:gd name="T73" fmla="*/ 494 h 986"/>
              <a:gd name="T74" fmla="*/ 3 w 1103"/>
              <a:gd name="T75" fmla="*/ 467 h 986"/>
              <a:gd name="T76" fmla="*/ 6 w 1103"/>
              <a:gd name="T77" fmla="*/ 456 h 986"/>
              <a:gd name="T78" fmla="*/ 11 w 1103"/>
              <a:gd name="T79" fmla="*/ 445 h 986"/>
              <a:gd name="T80" fmla="*/ 240 w 1103"/>
              <a:gd name="T81" fmla="*/ 50 h 986"/>
              <a:gd name="T82" fmla="*/ 240 w 1103"/>
              <a:gd name="T83" fmla="*/ 50 h 986"/>
              <a:gd name="T84" fmla="*/ 245 w 1103"/>
              <a:gd name="T85" fmla="*/ 39 h 986"/>
              <a:gd name="T86" fmla="*/ 254 w 1103"/>
              <a:gd name="T87" fmla="*/ 30 h 986"/>
              <a:gd name="T88" fmla="*/ 276 w 1103"/>
              <a:gd name="T89" fmla="*/ 14 h 986"/>
              <a:gd name="T90" fmla="*/ 298 w 1103"/>
              <a:gd name="T91" fmla="*/ 6 h 986"/>
              <a:gd name="T92" fmla="*/ 309 w 1103"/>
              <a:gd name="T93" fmla="*/ 3 h 986"/>
              <a:gd name="T94" fmla="*/ 323 w 1103"/>
              <a:gd name="T95" fmla="*/ 0 h 986"/>
              <a:gd name="T96" fmla="*/ 780 w 1103"/>
              <a:gd name="T9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03" h="986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solidFill>
            <a:schemeClr val="bg1"/>
          </a:solidFill>
          <a:ln w="25400" cap="flat" cmpd="sng" algn="ctr">
            <a:gradFill>
              <a:gsLst>
                <a:gs pos="7000">
                  <a:schemeClr val="accent2"/>
                </a:gs>
                <a:gs pos="50000">
                  <a:schemeClr val="accent5"/>
                </a:gs>
                <a:gs pos="100000">
                  <a:schemeClr val="accent4"/>
                </a:gs>
              </a:gsLst>
              <a:lin ang="300000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1400" b="1" dirty="0">
                <a:solidFill>
                  <a:schemeClr val="accent5"/>
                </a:solidFill>
              </a:rPr>
              <a:t>Strings</a:t>
            </a:r>
          </a:p>
        </p:txBody>
      </p:sp>
      <p:sp>
        <p:nvSpPr>
          <p:cNvPr id="4" name="Freeform 29">
            <a:extLst>
              <a:ext uri="{FF2B5EF4-FFF2-40B4-BE49-F238E27FC236}">
                <a16:creationId xmlns:a16="http://schemas.microsoft.com/office/drawing/2014/main" id="{04DEFC93-4C86-9304-648F-ADE6362FA79B}"/>
              </a:ext>
            </a:extLst>
          </p:cNvPr>
          <p:cNvSpPr>
            <a:spLocks noChangeAspect="1"/>
          </p:cNvSpPr>
          <p:nvPr/>
        </p:nvSpPr>
        <p:spPr bwMode="auto">
          <a:xfrm>
            <a:off x="242266" y="2835108"/>
            <a:ext cx="1563151" cy="1406835"/>
          </a:xfrm>
          <a:custGeom>
            <a:avLst/>
            <a:gdLst>
              <a:gd name="T0" fmla="*/ 780 w 1103"/>
              <a:gd name="T1" fmla="*/ 0 h 986"/>
              <a:gd name="T2" fmla="*/ 780 w 1103"/>
              <a:gd name="T3" fmla="*/ 0 h 986"/>
              <a:gd name="T4" fmla="*/ 791 w 1103"/>
              <a:gd name="T5" fmla="*/ 3 h 986"/>
              <a:gd name="T6" fmla="*/ 802 w 1103"/>
              <a:gd name="T7" fmla="*/ 6 h 986"/>
              <a:gd name="T8" fmla="*/ 827 w 1103"/>
              <a:gd name="T9" fmla="*/ 14 h 986"/>
              <a:gd name="T10" fmla="*/ 847 w 1103"/>
              <a:gd name="T11" fmla="*/ 30 h 986"/>
              <a:gd name="T12" fmla="*/ 855 w 1103"/>
              <a:gd name="T13" fmla="*/ 39 h 986"/>
              <a:gd name="T14" fmla="*/ 863 w 1103"/>
              <a:gd name="T15" fmla="*/ 50 h 986"/>
              <a:gd name="T16" fmla="*/ 1089 w 1103"/>
              <a:gd name="T17" fmla="*/ 445 h 986"/>
              <a:gd name="T18" fmla="*/ 1089 w 1103"/>
              <a:gd name="T19" fmla="*/ 445 h 986"/>
              <a:gd name="T20" fmla="*/ 1095 w 1103"/>
              <a:gd name="T21" fmla="*/ 456 h 986"/>
              <a:gd name="T22" fmla="*/ 1100 w 1103"/>
              <a:gd name="T23" fmla="*/ 467 h 986"/>
              <a:gd name="T24" fmla="*/ 1103 w 1103"/>
              <a:gd name="T25" fmla="*/ 494 h 986"/>
              <a:gd name="T26" fmla="*/ 1100 w 1103"/>
              <a:gd name="T27" fmla="*/ 519 h 986"/>
              <a:gd name="T28" fmla="*/ 1095 w 1103"/>
              <a:gd name="T29" fmla="*/ 530 h 986"/>
              <a:gd name="T30" fmla="*/ 1089 w 1103"/>
              <a:gd name="T31" fmla="*/ 541 h 986"/>
              <a:gd name="T32" fmla="*/ 863 w 1103"/>
              <a:gd name="T33" fmla="*/ 939 h 986"/>
              <a:gd name="T34" fmla="*/ 863 w 1103"/>
              <a:gd name="T35" fmla="*/ 939 h 986"/>
              <a:gd name="T36" fmla="*/ 855 w 1103"/>
              <a:gd name="T37" fmla="*/ 947 h 986"/>
              <a:gd name="T38" fmla="*/ 847 w 1103"/>
              <a:gd name="T39" fmla="*/ 956 h 986"/>
              <a:gd name="T40" fmla="*/ 827 w 1103"/>
              <a:gd name="T41" fmla="*/ 972 h 986"/>
              <a:gd name="T42" fmla="*/ 802 w 1103"/>
              <a:gd name="T43" fmla="*/ 983 h 986"/>
              <a:gd name="T44" fmla="*/ 791 w 1103"/>
              <a:gd name="T45" fmla="*/ 986 h 986"/>
              <a:gd name="T46" fmla="*/ 780 w 1103"/>
              <a:gd name="T47" fmla="*/ 986 h 986"/>
              <a:gd name="T48" fmla="*/ 323 w 1103"/>
              <a:gd name="T49" fmla="*/ 986 h 986"/>
              <a:gd name="T50" fmla="*/ 323 w 1103"/>
              <a:gd name="T51" fmla="*/ 986 h 986"/>
              <a:gd name="T52" fmla="*/ 309 w 1103"/>
              <a:gd name="T53" fmla="*/ 986 h 986"/>
              <a:gd name="T54" fmla="*/ 298 w 1103"/>
              <a:gd name="T55" fmla="*/ 983 h 986"/>
              <a:gd name="T56" fmla="*/ 276 w 1103"/>
              <a:gd name="T57" fmla="*/ 972 h 986"/>
              <a:gd name="T58" fmla="*/ 254 w 1103"/>
              <a:gd name="T59" fmla="*/ 956 h 986"/>
              <a:gd name="T60" fmla="*/ 245 w 1103"/>
              <a:gd name="T61" fmla="*/ 947 h 986"/>
              <a:gd name="T62" fmla="*/ 240 w 1103"/>
              <a:gd name="T63" fmla="*/ 939 h 986"/>
              <a:gd name="T64" fmla="*/ 11 w 1103"/>
              <a:gd name="T65" fmla="*/ 541 h 986"/>
              <a:gd name="T66" fmla="*/ 11 w 1103"/>
              <a:gd name="T67" fmla="*/ 541 h 986"/>
              <a:gd name="T68" fmla="*/ 6 w 1103"/>
              <a:gd name="T69" fmla="*/ 530 h 986"/>
              <a:gd name="T70" fmla="*/ 3 w 1103"/>
              <a:gd name="T71" fmla="*/ 519 h 986"/>
              <a:gd name="T72" fmla="*/ 0 w 1103"/>
              <a:gd name="T73" fmla="*/ 494 h 986"/>
              <a:gd name="T74" fmla="*/ 3 w 1103"/>
              <a:gd name="T75" fmla="*/ 467 h 986"/>
              <a:gd name="T76" fmla="*/ 6 w 1103"/>
              <a:gd name="T77" fmla="*/ 456 h 986"/>
              <a:gd name="T78" fmla="*/ 11 w 1103"/>
              <a:gd name="T79" fmla="*/ 445 h 986"/>
              <a:gd name="T80" fmla="*/ 240 w 1103"/>
              <a:gd name="T81" fmla="*/ 50 h 986"/>
              <a:gd name="T82" fmla="*/ 240 w 1103"/>
              <a:gd name="T83" fmla="*/ 50 h 986"/>
              <a:gd name="T84" fmla="*/ 245 w 1103"/>
              <a:gd name="T85" fmla="*/ 39 h 986"/>
              <a:gd name="T86" fmla="*/ 254 w 1103"/>
              <a:gd name="T87" fmla="*/ 30 h 986"/>
              <a:gd name="T88" fmla="*/ 276 w 1103"/>
              <a:gd name="T89" fmla="*/ 14 h 986"/>
              <a:gd name="T90" fmla="*/ 298 w 1103"/>
              <a:gd name="T91" fmla="*/ 6 h 986"/>
              <a:gd name="T92" fmla="*/ 309 w 1103"/>
              <a:gd name="T93" fmla="*/ 3 h 986"/>
              <a:gd name="T94" fmla="*/ 323 w 1103"/>
              <a:gd name="T95" fmla="*/ 0 h 986"/>
              <a:gd name="T96" fmla="*/ 780 w 1103"/>
              <a:gd name="T9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03" h="986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gradFill>
            <a:gsLst>
              <a:gs pos="3000">
                <a:schemeClr val="accent2"/>
              </a:gs>
              <a:gs pos="37000">
                <a:schemeClr val="accent5"/>
              </a:gs>
              <a:gs pos="95000">
                <a:schemeClr val="accent4"/>
              </a:gs>
            </a:gsLst>
            <a:lin ang="1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1400" b="1" dirty="0">
                <a:solidFill>
                  <a:schemeClr val="bg1"/>
                </a:solidFill>
              </a:rPr>
              <a:t>Step </a:t>
            </a:r>
            <a:r>
              <a:rPr lang="uk-UA" sz="1400" b="1" dirty="0">
                <a:solidFill>
                  <a:schemeClr val="bg1"/>
                </a:solidFill>
              </a:rPr>
              <a:t>3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" name="Freeform 29">
            <a:extLst>
              <a:ext uri="{FF2B5EF4-FFF2-40B4-BE49-F238E27FC236}">
                <a16:creationId xmlns:a16="http://schemas.microsoft.com/office/drawing/2014/main" id="{24157F32-13EF-705C-EE98-AEBEF9944122}"/>
              </a:ext>
            </a:extLst>
          </p:cNvPr>
          <p:cNvSpPr>
            <a:spLocks noChangeAspect="1"/>
          </p:cNvSpPr>
          <p:nvPr/>
        </p:nvSpPr>
        <p:spPr bwMode="auto">
          <a:xfrm>
            <a:off x="1595134" y="2054291"/>
            <a:ext cx="1563151" cy="1406835"/>
          </a:xfrm>
          <a:custGeom>
            <a:avLst/>
            <a:gdLst>
              <a:gd name="T0" fmla="*/ 780 w 1103"/>
              <a:gd name="T1" fmla="*/ 0 h 986"/>
              <a:gd name="T2" fmla="*/ 780 w 1103"/>
              <a:gd name="T3" fmla="*/ 0 h 986"/>
              <a:gd name="T4" fmla="*/ 791 w 1103"/>
              <a:gd name="T5" fmla="*/ 3 h 986"/>
              <a:gd name="T6" fmla="*/ 802 w 1103"/>
              <a:gd name="T7" fmla="*/ 6 h 986"/>
              <a:gd name="T8" fmla="*/ 827 w 1103"/>
              <a:gd name="T9" fmla="*/ 14 h 986"/>
              <a:gd name="T10" fmla="*/ 847 w 1103"/>
              <a:gd name="T11" fmla="*/ 30 h 986"/>
              <a:gd name="T12" fmla="*/ 855 w 1103"/>
              <a:gd name="T13" fmla="*/ 39 h 986"/>
              <a:gd name="T14" fmla="*/ 863 w 1103"/>
              <a:gd name="T15" fmla="*/ 50 h 986"/>
              <a:gd name="T16" fmla="*/ 1089 w 1103"/>
              <a:gd name="T17" fmla="*/ 445 h 986"/>
              <a:gd name="T18" fmla="*/ 1089 w 1103"/>
              <a:gd name="T19" fmla="*/ 445 h 986"/>
              <a:gd name="T20" fmla="*/ 1095 w 1103"/>
              <a:gd name="T21" fmla="*/ 456 h 986"/>
              <a:gd name="T22" fmla="*/ 1100 w 1103"/>
              <a:gd name="T23" fmla="*/ 467 h 986"/>
              <a:gd name="T24" fmla="*/ 1103 w 1103"/>
              <a:gd name="T25" fmla="*/ 494 h 986"/>
              <a:gd name="T26" fmla="*/ 1100 w 1103"/>
              <a:gd name="T27" fmla="*/ 519 h 986"/>
              <a:gd name="T28" fmla="*/ 1095 w 1103"/>
              <a:gd name="T29" fmla="*/ 530 h 986"/>
              <a:gd name="T30" fmla="*/ 1089 w 1103"/>
              <a:gd name="T31" fmla="*/ 541 h 986"/>
              <a:gd name="T32" fmla="*/ 863 w 1103"/>
              <a:gd name="T33" fmla="*/ 939 h 986"/>
              <a:gd name="T34" fmla="*/ 863 w 1103"/>
              <a:gd name="T35" fmla="*/ 939 h 986"/>
              <a:gd name="T36" fmla="*/ 855 w 1103"/>
              <a:gd name="T37" fmla="*/ 947 h 986"/>
              <a:gd name="T38" fmla="*/ 847 w 1103"/>
              <a:gd name="T39" fmla="*/ 956 h 986"/>
              <a:gd name="T40" fmla="*/ 827 w 1103"/>
              <a:gd name="T41" fmla="*/ 972 h 986"/>
              <a:gd name="T42" fmla="*/ 802 w 1103"/>
              <a:gd name="T43" fmla="*/ 983 h 986"/>
              <a:gd name="T44" fmla="*/ 791 w 1103"/>
              <a:gd name="T45" fmla="*/ 986 h 986"/>
              <a:gd name="T46" fmla="*/ 780 w 1103"/>
              <a:gd name="T47" fmla="*/ 986 h 986"/>
              <a:gd name="T48" fmla="*/ 323 w 1103"/>
              <a:gd name="T49" fmla="*/ 986 h 986"/>
              <a:gd name="T50" fmla="*/ 323 w 1103"/>
              <a:gd name="T51" fmla="*/ 986 h 986"/>
              <a:gd name="T52" fmla="*/ 309 w 1103"/>
              <a:gd name="T53" fmla="*/ 986 h 986"/>
              <a:gd name="T54" fmla="*/ 298 w 1103"/>
              <a:gd name="T55" fmla="*/ 983 h 986"/>
              <a:gd name="T56" fmla="*/ 276 w 1103"/>
              <a:gd name="T57" fmla="*/ 972 h 986"/>
              <a:gd name="T58" fmla="*/ 254 w 1103"/>
              <a:gd name="T59" fmla="*/ 956 h 986"/>
              <a:gd name="T60" fmla="*/ 245 w 1103"/>
              <a:gd name="T61" fmla="*/ 947 h 986"/>
              <a:gd name="T62" fmla="*/ 240 w 1103"/>
              <a:gd name="T63" fmla="*/ 939 h 986"/>
              <a:gd name="T64" fmla="*/ 11 w 1103"/>
              <a:gd name="T65" fmla="*/ 541 h 986"/>
              <a:gd name="T66" fmla="*/ 11 w 1103"/>
              <a:gd name="T67" fmla="*/ 541 h 986"/>
              <a:gd name="T68" fmla="*/ 6 w 1103"/>
              <a:gd name="T69" fmla="*/ 530 h 986"/>
              <a:gd name="T70" fmla="*/ 3 w 1103"/>
              <a:gd name="T71" fmla="*/ 519 h 986"/>
              <a:gd name="T72" fmla="*/ 0 w 1103"/>
              <a:gd name="T73" fmla="*/ 494 h 986"/>
              <a:gd name="T74" fmla="*/ 3 w 1103"/>
              <a:gd name="T75" fmla="*/ 467 h 986"/>
              <a:gd name="T76" fmla="*/ 6 w 1103"/>
              <a:gd name="T77" fmla="*/ 456 h 986"/>
              <a:gd name="T78" fmla="*/ 11 w 1103"/>
              <a:gd name="T79" fmla="*/ 445 h 986"/>
              <a:gd name="T80" fmla="*/ 240 w 1103"/>
              <a:gd name="T81" fmla="*/ 50 h 986"/>
              <a:gd name="T82" fmla="*/ 240 w 1103"/>
              <a:gd name="T83" fmla="*/ 50 h 986"/>
              <a:gd name="T84" fmla="*/ 245 w 1103"/>
              <a:gd name="T85" fmla="*/ 39 h 986"/>
              <a:gd name="T86" fmla="*/ 254 w 1103"/>
              <a:gd name="T87" fmla="*/ 30 h 986"/>
              <a:gd name="T88" fmla="*/ 276 w 1103"/>
              <a:gd name="T89" fmla="*/ 14 h 986"/>
              <a:gd name="T90" fmla="*/ 298 w 1103"/>
              <a:gd name="T91" fmla="*/ 6 h 986"/>
              <a:gd name="T92" fmla="*/ 309 w 1103"/>
              <a:gd name="T93" fmla="*/ 3 h 986"/>
              <a:gd name="T94" fmla="*/ 323 w 1103"/>
              <a:gd name="T95" fmla="*/ 0 h 986"/>
              <a:gd name="T96" fmla="*/ 780 w 1103"/>
              <a:gd name="T9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03" h="986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solidFill>
            <a:schemeClr val="bg1"/>
          </a:solidFill>
          <a:ln w="25400" cap="flat" cmpd="sng" algn="ctr">
            <a:gradFill>
              <a:gsLst>
                <a:gs pos="7000">
                  <a:schemeClr val="accent2"/>
                </a:gs>
                <a:gs pos="50000">
                  <a:schemeClr val="accent5"/>
                </a:gs>
                <a:gs pos="100000">
                  <a:schemeClr val="accent4"/>
                </a:gs>
              </a:gsLst>
              <a:lin ang="300000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1400" b="1" dirty="0">
                <a:solidFill>
                  <a:schemeClr val="accent5"/>
                </a:solidFill>
              </a:rPr>
              <a:t>Lists</a:t>
            </a:r>
          </a:p>
        </p:txBody>
      </p:sp>
      <p:sp>
        <p:nvSpPr>
          <p:cNvPr id="10" name="Freeform 29">
            <a:extLst>
              <a:ext uri="{FF2B5EF4-FFF2-40B4-BE49-F238E27FC236}">
                <a16:creationId xmlns:a16="http://schemas.microsoft.com/office/drawing/2014/main" id="{0EFE16FC-B69A-FBAA-1289-BCE7EFD75E45}"/>
              </a:ext>
            </a:extLst>
          </p:cNvPr>
          <p:cNvSpPr>
            <a:spLocks noChangeAspect="1"/>
          </p:cNvSpPr>
          <p:nvPr/>
        </p:nvSpPr>
        <p:spPr bwMode="auto">
          <a:xfrm>
            <a:off x="1590269" y="3615925"/>
            <a:ext cx="1563151" cy="1406835"/>
          </a:xfrm>
          <a:custGeom>
            <a:avLst/>
            <a:gdLst>
              <a:gd name="T0" fmla="*/ 780 w 1103"/>
              <a:gd name="T1" fmla="*/ 0 h 986"/>
              <a:gd name="T2" fmla="*/ 780 w 1103"/>
              <a:gd name="T3" fmla="*/ 0 h 986"/>
              <a:gd name="T4" fmla="*/ 791 w 1103"/>
              <a:gd name="T5" fmla="*/ 3 h 986"/>
              <a:gd name="T6" fmla="*/ 802 w 1103"/>
              <a:gd name="T7" fmla="*/ 6 h 986"/>
              <a:gd name="T8" fmla="*/ 827 w 1103"/>
              <a:gd name="T9" fmla="*/ 14 h 986"/>
              <a:gd name="T10" fmla="*/ 847 w 1103"/>
              <a:gd name="T11" fmla="*/ 30 h 986"/>
              <a:gd name="T12" fmla="*/ 855 w 1103"/>
              <a:gd name="T13" fmla="*/ 39 h 986"/>
              <a:gd name="T14" fmla="*/ 863 w 1103"/>
              <a:gd name="T15" fmla="*/ 50 h 986"/>
              <a:gd name="T16" fmla="*/ 1089 w 1103"/>
              <a:gd name="T17" fmla="*/ 445 h 986"/>
              <a:gd name="T18" fmla="*/ 1089 w 1103"/>
              <a:gd name="T19" fmla="*/ 445 h 986"/>
              <a:gd name="T20" fmla="*/ 1095 w 1103"/>
              <a:gd name="T21" fmla="*/ 456 h 986"/>
              <a:gd name="T22" fmla="*/ 1100 w 1103"/>
              <a:gd name="T23" fmla="*/ 467 h 986"/>
              <a:gd name="T24" fmla="*/ 1103 w 1103"/>
              <a:gd name="T25" fmla="*/ 494 h 986"/>
              <a:gd name="T26" fmla="*/ 1100 w 1103"/>
              <a:gd name="T27" fmla="*/ 519 h 986"/>
              <a:gd name="T28" fmla="*/ 1095 w 1103"/>
              <a:gd name="T29" fmla="*/ 530 h 986"/>
              <a:gd name="T30" fmla="*/ 1089 w 1103"/>
              <a:gd name="T31" fmla="*/ 541 h 986"/>
              <a:gd name="T32" fmla="*/ 863 w 1103"/>
              <a:gd name="T33" fmla="*/ 939 h 986"/>
              <a:gd name="T34" fmla="*/ 863 w 1103"/>
              <a:gd name="T35" fmla="*/ 939 h 986"/>
              <a:gd name="T36" fmla="*/ 855 w 1103"/>
              <a:gd name="T37" fmla="*/ 947 h 986"/>
              <a:gd name="T38" fmla="*/ 847 w 1103"/>
              <a:gd name="T39" fmla="*/ 956 h 986"/>
              <a:gd name="T40" fmla="*/ 827 w 1103"/>
              <a:gd name="T41" fmla="*/ 972 h 986"/>
              <a:gd name="T42" fmla="*/ 802 w 1103"/>
              <a:gd name="T43" fmla="*/ 983 h 986"/>
              <a:gd name="T44" fmla="*/ 791 w 1103"/>
              <a:gd name="T45" fmla="*/ 986 h 986"/>
              <a:gd name="T46" fmla="*/ 780 w 1103"/>
              <a:gd name="T47" fmla="*/ 986 h 986"/>
              <a:gd name="T48" fmla="*/ 323 w 1103"/>
              <a:gd name="T49" fmla="*/ 986 h 986"/>
              <a:gd name="T50" fmla="*/ 323 w 1103"/>
              <a:gd name="T51" fmla="*/ 986 h 986"/>
              <a:gd name="T52" fmla="*/ 309 w 1103"/>
              <a:gd name="T53" fmla="*/ 986 h 986"/>
              <a:gd name="T54" fmla="*/ 298 w 1103"/>
              <a:gd name="T55" fmla="*/ 983 h 986"/>
              <a:gd name="T56" fmla="*/ 276 w 1103"/>
              <a:gd name="T57" fmla="*/ 972 h 986"/>
              <a:gd name="T58" fmla="*/ 254 w 1103"/>
              <a:gd name="T59" fmla="*/ 956 h 986"/>
              <a:gd name="T60" fmla="*/ 245 w 1103"/>
              <a:gd name="T61" fmla="*/ 947 h 986"/>
              <a:gd name="T62" fmla="*/ 240 w 1103"/>
              <a:gd name="T63" fmla="*/ 939 h 986"/>
              <a:gd name="T64" fmla="*/ 11 w 1103"/>
              <a:gd name="T65" fmla="*/ 541 h 986"/>
              <a:gd name="T66" fmla="*/ 11 w 1103"/>
              <a:gd name="T67" fmla="*/ 541 h 986"/>
              <a:gd name="T68" fmla="*/ 6 w 1103"/>
              <a:gd name="T69" fmla="*/ 530 h 986"/>
              <a:gd name="T70" fmla="*/ 3 w 1103"/>
              <a:gd name="T71" fmla="*/ 519 h 986"/>
              <a:gd name="T72" fmla="*/ 0 w 1103"/>
              <a:gd name="T73" fmla="*/ 494 h 986"/>
              <a:gd name="T74" fmla="*/ 3 w 1103"/>
              <a:gd name="T75" fmla="*/ 467 h 986"/>
              <a:gd name="T76" fmla="*/ 6 w 1103"/>
              <a:gd name="T77" fmla="*/ 456 h 986"/>
              <a:gd name="T78" fmla="*/ 11 w 1103"/>
              <a:gd name="T79" fmla="*/ 445 h 986"/>
              <a:gd name="T80" fmla="*/ 240 w 1103"/>
              <a:gd name="T81" fmla="*/ 50 h 986"/>
              <a:gd name="T82" fmla="*/ 240 w 1103"/>
              <a:gd name="T83" fmla="*/ 50 h 986"/>
              <a:gd name="T84" fmla="*/ 245 w 1103"/>
              <a:gd name="T85" fmla="*/ 39 h 986"/>
              <a:gd name="T86" fmla="*/ 254 w 1103"/>
              <a:gd name="T87" fmla="*/ 30 h 986"/>
              <a:gd name="T88" fmla="*/ 276 w 1103"/>
              <a:gd name="T89" fmla="*/ 14 h 986"/>
              <a:gd name="T90" fmla="*/ 298 w 1103"/>
              <a:gd name="T91" fmla="*/ 6 h 986"/>
              <a:gd name="T92" fmla="*/ 309 w 1103"/>
              <a:gd name="T93" fmla="*/ 3 h 986"/>
              <a:gd name="T94" fmla="*/ 323 w 1103"/>
              <a:gd name="T95" fmla="*/ 0 h 986"/>
              <a:gd name="T96" fmla="*/ 780 w 1103"/>
              <a:gd name="T9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03" h="986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gradFill>
            <a:gsLst>
              <a:gs pos="3000">
                <a:schemeClr val="accent2"/>
              </a:gs>
              <a:gs pos="37000">
                <a:schemeClr val="accent5"/>
              </a:gs>
              <a:gs pos="95000">
                <a:schemeClr val="accent4"/>
              </a:gs>
            </a:gsLst>
            <a:lin ang="1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1400" b="1" dirty="0">
                <a:solidFill>
                  <a:schemeClr val="bg1"/>
                </a:solidFill>
              </a:rPr>
              <a:t>Sets</a:t>
            </a:r>
          </a:p>
        </p:txBody>
      </p:sp>
      <p:sp>
        <p:nvSpPr>
          <p:cNvPr id="11" name="Freeform 29">
            <a:extLst>
              <a:ext uri="{FF2B5EF4-FFF2-40B4-BE49-F238E27FC236}">
                <a16:creationId xmlns:a16="http://schemas.microsoft.com/office/drawing/2014/main" id="{2C179587-554E-E5E5-3667-C7179DF04A13}"/>
              </a:ext>
            </a:extLst>
          </p:cNvPr>
          <p:cNvSpPr>
            <a:spLocks noChangeAspect="1"/>
          </p:cNvSpPr>
          <p:nvPr/>
        </p:nvSpPr>
        <p:spPr bwMode="auto">
          <a:xfrm>
            <a:off x="237402" y="2835108"/>
            <a:ext cx="1563151" cy="1406835"/>
          </a:xfrm>
          <a:custGeom>
            <a:avLst/>
            <a:gdLst>
              <a:gd name="T0" fmla="*/ 780 w 1103"/>
              <a:gd name="T1" fmla="*/ 0 h 986"/>
              <a:gd name="T2" fmla="*/ 780 w 1103"/>
              <a:gd name="T3" fmla="*/ 0 h 986"/>
              <a:gd name="T4" fmla="*/ 791 w 1103"/>
              <a:gd name="T5" fmla="*/ 3 h 986"/>
              <a:gd name="T6" fmla="*/ 802 w 1103"/>
              <a:gd name="T7" fmla="*/ 6 h 986"/>
              <a:gd name="T8" fmla="*/ 827 w 1103"/>
              <a:gd name="T9" fmla="*/ 14 h 986"/>
              <a:gd name="T10" fmla="*/ 847 w 1103"/>
              <a:gd name="T11" fmla="*/ 30 h 986"/>
              <a:gd name="T12" fmla="*/ 855 w 1103"/>
              <a:gd name="T13" fmla="*/ 39 h 986"/>
              <a:gd name="T14" fmla="*/ 863 w 1103"/>
              <a:gd name="T15" fmla="*/ 50 h 986"/>
              <a:gd name="T16" fmla="*/ 1089 w 1103"/>
              <a:gd name="T17" fmla="*/ 445 h 986"/>
              <a:gd name="T18" fmla="*/ 1089 w 1103"/>
              <a:gd name="T19" fmla="*/ 445 h 986"/>
              <a:gd name="T20" fmla="*/ 1095 w 1103"/>
              <a:gd name="T21" fmla="*/ 456 h 986"/>
              <a:gd name="T22" fmla="*/ 1100 w 1103"/>
              <a:gd name="T23" fmla="*/ 467 h 986"/>
              <a:gd name="T24" fmla="*/ 1103 w 1103"/>
              <a:gd name="T25" fmla="*/ 494 h 986"/>
              <a:gd name="T26" fmla="*/ 1100 w 1103"/>
              <a:gd name="T27" fmla="*/ 519 h 986"/>
              <a:gd name="T28" fmla="*/ 1095 w 1103"/>
              <a:gd name="T29" fmla="*/ 530 h 986"/>
              <a:gd name="T30" fmla="*/ 1089 w 1103"/>
              <a:gd name="T31" fmla="*/ 541 h 986"/>
              <a:gd name="T32" fmla="*/ 863 w 1103"/>
              <a:gd name="T33" fmla="*/ 939 h 986"/>
              <a:gd name="T34" fmla="*/ 863 w 1103"/>
              <a:gd name="T35" fmla="*/ 939 h 986"/>
              <a:gd name="T36" fmla="*/ 855 w 1103"/>
              <a:gd name="T37" fmla="*/ 947 h 986"/>
              <a:gd name="T38" fmla="*/ 847 w 1103"/>
              <a:gd name="T39" fmla="*/ 956 h 986"/>
              <a:gd name="T40" fmla="*/ 827 w 1103"/>
              <a:gd name="T41" fmla="*/ 972 h 986"/>
              <a:gd name="T42" fmla="*/ 802 w 1103"/>
              <a:gd name="T43" fmla="*/ 983 h 986"/>
              <a:gd name="T44" fmla="*/ 791 w 1103"/>
              <a:gd name="T45" fmla="*/ 986 h 986"/>
              <a:gd name="T46" fmla="*/ 780 w 1103"/>
              <a:gd name="T47" fmla="*/ 986 h 986"/>
              <a:gd name="T48" fmla="*/ 323 w 1103"/>
              <a:gd name="T49" fmla="*/ 986 h 986"/>
              <a:gd name="T50" fmla="*/ 323 w 1103"/>
              <a:gd name="T51" fmla="*/ 986 h 986"/>
              <a:gd name="T52" fmla="*/ 309 w 1103"/>
              <a:gd name="T53" fmla="*/ 986 h 986"/>
              <a:gd name="T54" fmla="*/ 298 w 1103"/>
              <a:gd name="T55" fmla="*/ 983 h 986"/>
              <a:gd name="T56" fmla="*/ 276 w 1103"/>
              <a:gd name="T57" fmla="*/ 972 h 986"/>
              <a:gd name="T58" fmla="*/ 254 w 1103"/>
              <a:gd name="T59" fmla="*/ 956 h 986"/>
              <a:gd name="T60" fmla="*/ 245 w 1103"/>
              <a:gd name="T61" fmla="*/ 947 h 986"/>
              <a:gd name="T62" fmla="*/ 240 w 1103"/>
              <a:gd name="T63" fmla="*/ 939 h 986"/>
              <a:gd name="T64" fmla="*/ 11 w 1103"/>
              <a:gd name="T65" fmla="*/ 541 h 986"/>
              <a:gd name="T66" fmla="*/ 11 w 1103"/>
              <a:gd name="T67" fmla="*/ 541 h 986"/>
              <a:gd name="T68" fmla="*/ 6 w 1103"/>
              <a:gd name="T69" fmla="*/ 530 h 986"/>
              <a:gd name="T70" fmla="*/ 3 w 1103"/>
              <a:gd name="T71" fmla="*/ 519 h 986"/>
              <a:gd name="T72" fmla="*/ 0 w 1103"/>
              <a:gd name="T73" fmla="*/ 494 h 986"/>
              <a:gd name="T74" fmla="*/ 3 w 1103"/>
              <a:gd name="T75" fmla="*/ 467 h 986"/>
              <a:gd name="T76" fmla="*/ 6 w 1103"/>
              <a:gd name="T77" fmla="*/ 456 h 986"/>
              <a:gd name="T78" fmla="*/ 11 w 1103"/>
              <a:gd name="T79" fmla="*/ 445 h 986"/>
              <a:gd name="T80" fmla="*/ 240 w 1103"/>
              <a:gd name="T81" fmla="*/ 50 h 986"/>
              <a:gd name="T82" fmla="*/ 240 w 1103"/>
              <a:gd name="T83" fmla="*/ 50 h 986"/>
              <a:gd name="T84" fmla="*/ 245 w 1103"/>
              <a:gd name="T85" fmla="*/ 39 h 986"/>
              <a:gd name="T86" fmla="*/ 254 w 1103"/>
              <a:gd name="T87" fmla="*/ 30 h 986"/>
              <a:gd name="T88" fmla="*/ 276 w 1103"/>
              <a:gd name="T89" fmla="*/ 14 h 986"/>
              <a:gd name="T90" fmla="*/ 298 w 1103"/>
              <a:gd name="T91" fmla="*/ 6 h 986"/>
              <a:gd name="T92" fmla="*/ 309 w 1103"/>
              <a:gd name="T93" fmla="*/ 3 h 986"/>
              <a:gd name="T94" fmla="*/ 323 w 1103"/>
              <a:gd name="T95" fmla="*/ 0 h 986"/>
              <a:gd name="T96" fmla="*/ 780 w 1103"/>
              <a:gd name="T9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03" h="986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solidFill>
            <a:schemeClr val="bg1"/>
          </a:solidFill>
          <a:ln w="25400" cap="flat" cmpd="sng" algn="ctr">
            <a:gradFill>
              <a:gsLst>
                <a:gs pos="7000">
                  <a:schemeClr val="accent2"/>
                </a:gs>
                <a:gs pos="50000">
                  <a:schemeClr val="accent5"/>
                </a:gs>
                <a:gs pos="100000">
                  <a:schemeClr val="accent4"/>
                </a:gs>
              </a:gsLst>
              <a:lin ang="300000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1400" b="1" dirty="0">
                <a:solidFill>
                  <a:schemeClr val="accent5"/>
                </a:solidFill>
              </a:rPr>
              <a:t>Hashes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47FDF73-D586-2EEF-1DFC-9C9AC1BE4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5" y="1332550"/>
            <a:ext cx="1587500" cy="279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CBC03CC-7504-0F19-16FC-DD12B00F22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475" y="1755997"/>
            <a:ext cx="1371600" cy="228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15E2793-B678-41E1-9BAF-13863D1F99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4058" y="2584449"/>
            <a:ext cx="4227216" cy="13813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BC9F4A3-E4A6-F2C0-472D-FBEF3A55C1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4058" y="4662272"/>
            <a:ext cx="5246142" cy="96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237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CF227A-50A4-274A-D155-9EB58DDCD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F09EB1C-5EA9-8CD3-CF07-9BBA3283A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ue and white sky&#10;&#10;Description automatically generated">
            <a:extLst>
              <a:ext uri="{FF2B5EF4-FFF2-40B4-BE49-F238E27FC236}">
                <a16:creationId xmlns:a16="http://schemas.microsoft.com/office/drawing/2014/main" id="{E9BFA31F-B841-16DD-5974-8F943DC6E16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6237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2D15DD8-DC8F-8FE1-70C3-A11A95003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DC3903-21CF-F05F-756E-EB9B6BD68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752" y="0"/>
            <a:ext cx="4661221" cy="912441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Main Redis Data Types</a:t>
            </a:r>
            <a:endParaRPr lang="en-US" sz="40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F177B25-B7DE-2EE6-D77C-80A383DF9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7098" y="551234"/>
            <a:ext cx="5386702" cy="56257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Similar to sets but with scores for ordering.</a:t>
            </a:r>
          </a:p>
          <a:p>
            <a:pPr marL="0" indent="0">
              <a:buNone/>
            </a:pP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Unordered collection of unique strings.</a:t>
            </a:r>
          </a:p>
          <a:p>
            <a:pPr marL="0" indent="0">
              <a:buNone/>
            </a:pPr>
            <a:r>
              <a:rPr lang="en-US" sz="2000" dirty="0"/>
              <a:t>Command: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Example: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Jedis example (Java):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0CD3EB94-83A0-9C11-54AB-21368AEF8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sp>
        <p:nvSpPr>
          <p:cNvPr id="6" name="Freeform 29">
            <a:extLst>
              <a:ext uri="{FF2B5EF4-FFF2-40B4-BE49-F238E27FC236}">
                <a16:creationId xmlns:a16="http://schemas.microsoft.com/office/drawing/2014/main" id="{BE5200E7-7A9F-E87E-1145-FCDC22AB6BF5}"/>
              </a:ext>
            </a:extLst>
          </p:cNvPr>
          <p:cNvSpPr>
            <a:spLocks noChangeAspect="1"/>
          </p:cNvSpPr>
          <p:nvPr/>
        </p:nvSpPr>
        <p:spPr bwMode="auto">
          <a:xfrm>
            <a:off x="1590270" y="2054291"/>
            <a:ext cx="1563151" cy="1406835"/>
          </a:xfrm>
          <a:custGeom>
            <a:avLst/>
            <a:gdLst>
              <a:gd name="T0" fmla="*/ 780 w 1103"/>
              <a:gd name="T1" fmla="*/ 0 h 986"/>
              <a:gd name="T2" fmla="*/ 780 w 1103"/>
              <a:gd name="T3" fmla="*/ 0 h 986"/>
              <a:gd name="T4" fmla="*/ 791 w 1103"/>
              <a:gd name="T5" fmla="*/ 3 h 986"/>
              <a:gd name="T6" fmla="*/ 802 w 1103"/>
              <a:gd name="T7" fmla="*/ 6 h 986"/>
              <a:gd name="T8" fmla="*/ 827 w 1103"/>
              <a:gd name="T9" fmla="*/ 14 h 986"/>
              <a:gd name="T10" fmla="*/ 847 w 1103"/>
              <a:gd name="T11" fmla="*/ 30 h 986"/>
              <a:gd name="T12" fmla="*/ 855 w 1103"/>
              <a:gd name="T13" fmla="*/ 39 h 986"/>
              <a:gd name="T14" fmla="*/ 863 w 1103"/>
              <a:gd name="T15" fmla="*/ 50 h 986"/>
              <a:gd name="T16" fmla="*/ 1089 w 1103"/>
              <a:gd name="T17" fmla="*/ 445 h 986"/>
              <a:gd name="T18" fmla="*/ 1089 w 1103"/>
              <a:gd name="T19" fmla="*/ 445 h 986"/>
              <a:gd name="T20" fmla="*/ 1095 w 1103"/>
              <a:gd name="T21" fmla="*/ 456 h 986"/>
              <a:gd name="T22" fmla="*/ 1100 w 1103"/>
              <a:gd name="T23" fmla="*/ 467 h 986"/>
              <a:gd name="T24" fmla="*/ 1103 w 1103"/>
              <a:gd name="T25" fmla="*/ 494 h 986"/>
              <a:gd name="T26" fmla="*/ 1100 w 1103"/>
              <a:gd name="T27" fmla="*/ 519 h 986"/>
              <a:gd name="T28" fmla="*/ 1095 w 1103"/>
              <a:gd name="T29" fmla="*/ 530 h 986"/>
              <a:gd name="T30" fmla="*/ 1089 w 1103"/>
              <a:gd name="T31" fmla="*/ 541 h 986"/>
              <a:gd name="T32" fmla="*/ 863 w 1103"/>
              <a:gd name="T33" fmla="*/ 939 h 986"/>
              <a:gd name="T34" fmla="*/ 863 w 1103"/>
              <a:gd name="T35" fmla="*/ 939 h 986"/>
              <a:gd name="T36" fmla="*/ 855 w 1103"/>
              <a:gd name="T37" fmla="*/ 947 h 986"/>
              <a:gd name="T38" fmla="*/ 847 w 1103"/>
              <a:gd name="T39" fmla="*/ 956 h 986"/>
              <a:gd name="T40" fmla="*/ 827 w 1103"/>
              <a:gd name="T41" fmla="*/ 972 h 986"/>
              <a:gd name="T42" fmla="*/ 802 w 1103"/>
              <a:gd name="T43" fmla="*/ 983 h 986"/>
              <a:gd name="T44" fmla="*/ 791 w 1103"/>
              <a:gd name="T45" fmla="*/ 986 h 986"/>
              <a:gd name="T46" fmla="*/ 780 w 1103"/>
              <a:gd name="T47" fmla="*/ 986 h 986"/>
              <a:gd name="T48" fmla="*/ 323 w 1103"/>
              <a:gd name="T49" fmla="*/ 986 h 986"/>
              <a:gd name="T50" fmla="*/ 323 w 1103"/>
              <a:gd name="T51" fmla="*/ 986 h 986"/>
              <a:gd name="T52" fmla="*/ 309 w 1103"/>
              <a:gd name="T53" fmla="*/ 986 h 986"/>
              <a:gd name="T54" fmla="*/ 298 w 1103"/>
              <a:gd name="T55" fmla="*/ 983 h 986"/>
              <a:gd name="T56" fmla="*/ 276 w 1103"/>
              <a:gd name="T57" fmla="*/ 972 h 986"/>
              <a:gd name="T58" fmla="*/ 254 w 1103"/>
              <a:gd name="T59" fmla="*/ 956 h 986"/>
              <a:gd name="T60" fmla="*/ 245 w 1103"/>
              <a:gd name="T61" fmla="*/ 947 h 986"/>
              <a:gd name="T62" fmla="*/ 240 w 1103"/>
              <a:gd name="T63" fmla="*/ 939 h 986"/>
              <a:gd name="T64" fmla="*/ 11 w 1103"/>
              <a:gd name="T65" fmla="*/ 541 h 986"/>
              <a:gd name="T66" fmla="*/ 11 w 1103"/>
              <a:gd name="T67" fmla="*/ 541 h 986"/>
              <a:gd name="T68" fmla="*/ 6 w 1103"/>
              <a:gd name="T69" fmla="*/ 530 h 986"/>
              <a:gd name="T70" fmla="*/ 3 w 1103"/>
              <a:gd name="T71" fmla="*/ 519 h 986"/>
              <a:gd name="T72" fmla="*/ 0 w 1103"/>
              <a:gd name="T73" fmla="*/ 494 h 986"/>
              <a:gd name="T74" fmla="*/ 3 w 1103"/>
              <a:gd name="T75" fmla="*/ 467 h 986"/>
              <a:gd name="T76" fmla="*/ 6 w 1103"/>
              <a:gd name="T77" fmla="*/ 456 h 986"/>
              <a:gd name="T78" fmla="*/ 11 w 1103"/>
              <a:gd name="T79" fmla="*/ 445 h 986"/>
              <a:gd name="T80" fmla="*/ 240 w 1103"/>
              <a:gd name="T81" fmla="*/ 50 h 986"/>
              <a:gd name="T82" fmla="*/ 240 w 1103"/>
              <a:gd name="T83" fmla="*/ 50 h 986"/>
              <a:gd name="T84" fmla="*/ 245 w 1103"/>
              <a:gd name="T85" fmla="*/ 39 h 986"/>
              <a:gd name="T86" fmla="*/ 254 w 1103"/>
              <a:gd name="T87" fmla="*/ 30 h 986"/>
              <a:gd name="T88" fmla="*/ 276 w 1103"/>
              <a:gd name="T89" fmla="*/ 14 h 986"/>
              <a:gd name="T90" fmla="*/ 298 w 1103"/>
              <a:gd name="T91" fmla="*/ 6 h 986"/>
              <a:gd name="T92" fmla="*/ 309 w 1103"/>
              <a:gd name="T93" fmla="*/ 3 h 986"/>
              <a:gd name="T94" fmla="*/ 323 w 1103"/>
              <a:gd name="T95" fmla="*/ 0 h 986"/>
              <a:gd name="T96" fmla="*/ 780 w 1103"/>
              <a:gd name="T9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03" h="986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gradFill>
            <a:gsLst>
              <a:gs pos="3000">
                <a:schemeClr val="accent2"/>
              </a:gs>
              <a:gs pos="37000">
                <a:schemeClr val="accent5"/>
              </a:gs>
              <a:gs pos="95000">
                <a:schemeClr val="accent4"/>
              </a:gs>
            </a:gsLst>
            <a:lin ang="1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1400" b="1" dirty="0">
                <a:solidFill>
                  <a:schemeClr val="bg1"/>
                </a:solidFill>
              </a:rPr>
              <a:t>Step </a:t>
            </a:r>
            <a:r>
              <a:rPr lang="uk-UA" sz="1400" b="1" dirty="0">
                <a:solidFill>
                  <a:schemeClr val="bg1"/>
                </a:solidFill>
              </a:rPr>
              <a:t>2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8" name="Freeform 29">
            <a:extLst>
              <a:ext uri="{FF2B5EF4-FFF2-40B4-BE49-F238E27FC236}">
                <a16:creationId xmlns:a16="http://schemas.microsoft.com/office/drawing/2014/main" id="{BAB8ED13-78C2-7F87-910D-A5B627D355E8}"/>
              </a:ext>
            </a:extLst>
          </p:cNvPr>
          <p:cNvSpPr>
            <a:spLocks noChangeAspect="1"/>
          </p:cNvSpPr>
          <p:nvPr/>
        </p:nvSpPr>
        <p:spPr bwMode="auto">
          <a:xfrm>
            <a:off x="247130" y="1273474"/>
            <a:ext cx="1563151" cy="1406835"/>
          </a:xfrm>
          <a:custGeom>
            <a:avLst/>
            <a:gdLst>
              <a:gd name="T0" fmla="*/ 780 w 1103"/>
              <a:gd name="T1" fmla="*/ 0 h 986"/>
              <a:gd name="T2" fmla="*/ 780 w 1103"/>
              <a:gd name="T3" fmla="*/ 0 h 986"/>
              <a:gd name="T4" fmla="*/ 791 w 1103"/>
              <a:gd name="T5" fmla="*/ 3 h 986"/>
              <a:gd name="T6" fmla="*/ 802 w 1103"/>
              <a:gd name="T7" fmla="*/ 6 h 986"/>
              <a:gd name="T8" fmla="*/ 827 w 1103"/>
              <a:gd name="T9" fmla="*/ 14 h 986"/>
              <a:gd name="T10" fmla="*/ 847 w 1103"/>
              <a:gd name="T11" fmla="*/ 30 h 986"/>
              <a:gd name="T12" fmla="*/ 855 w 1103"/>
              <a:gd name="T13" fmla="*/ 39 h 986"/>
              <a:gd name="T14" fmla="*/ 863 w 1103"/>
              <a:gd name="T15" fmla="*/ 50 h 986"/>
              <a:gd name="T16" fmla="*/ 1089 w 1103"/>
              <a:gd name="T17" fmla="*/ 445 h 986"/>
              <a:gd name="T18" fmla="*/ 1089 w 1103"/>
              <a:gd name="T19" fmla="*/ 445 h 986"/>
              <a:gd name="T20" fmla="*/ 1095 w 1103"/>
              <a:gd name="T21" fmla="*/ 456 h 986"/>
              <a:gd name="T22" fmla="*/ 1100 w 1103"/>
              <a:gd name="T23" fmla="*/ 467 h 986"/>
              <a:gd name="T24" fmla="*/ 1103 w 1103"/>
              <a:gd name="T25" fmla="*/ 494 h 986"/>
              <a:gd name="T26" fmla="*/ 1100 w 1103"/>
              <a:gd name="T27" fmla="*/ 519 h 986"/>
              <a:gd name="T28" fmla="*/ 1095 w 1103"/>
              <a:gd name="T29" fmla="*/ 530 h 986"/>
              <a:gd name="T30" fmla="*/ 1089 w 1103"/>
              <a:gd name="T31" fmla="*/ 541 h 986"/>
              <a:gd name="T32" fmla="*/ 863 w 1103"/>
              <a:gd name="T33" fmla="*/ 939 h 986"/>
              <a:gd name="T34" fmla="*/ 863 w 1103"/>
              <a:gd name="T35" fmla="*/ 939 h 986"/>
              <a:gd name="T36" fmla="*/ 855 w 1103"/>
              <a:gd name="T37" fmla="*/ 947 h 986"/>
              <a:gd name="T38" fmla="*/ 847 w 1103"/>
              <a:gd name="T39" fmla="*/ 956 h 986"/>
              <a:gd name="T40" fmla="*/ 827 w 1103"/>
              <a:gd name="T41" fmla="*/ 972 h 986"/>
              <a:gd name="T42" fmla="*/ 802 w 1103"/>
              <a:gd name="T43" fmla="*/ 983 h 986"/>
              <a:gd name="T44" fmla="*/ 791 w 1103"/>
              <a:gd name="T45" fmla="*/ 986 h 986"/>
              <a:gd name="T46" fmla="*/ 780 w 1103"/>
              <a:gd name="T47" fmla="*/ 986 h 986"/>
              <a:gd name="T48" fmla="*/ 323 w 1103"/>
              <a:gd name="T49" fmla="*/ 986 h 986"/>
              <a:gd name="T50" fmla="*/ 323 w 1103"/>
              <a:gd name="T51" fmla="*/ 986 h 986"/>
              <a:gd name="T52" fmla="*/ 309 w 1103"/>
              <a:gd name="T53" fmla="*/ 986 h 986"/>
              <a:gd name="T54" fmla="*/ 298 w 1103"/>
              <a:gd name="T55" fmla="*/ 983 h 986"/>
              <a:gd name="T56" fmla="*/ 276 w 1103"/>
              <a:gd name="T57" fmla="*/ 972 h 986"/>
              <a:gd name="T58" fmla="*/ 254 w 1103"/>
              <a:gd name="T59" fmla="*/ 956 h 986"/>
              <a:gd name="T60" fmla="*/ 245 w 1103"/>
              <a:gd name="T61" fmla="*/ 947 h 986"/>
              <a:gd name="T62" fmla="*/ 240 w 1103"/>
              <a:gd name="T63" fmla="*/ 939 h 986"/>
              <a:gd name="T64" fmla="*/ 11 w 1103"/>
              <a:gd name="T65" fmla="*/ 541 h 986"/>
              <a:gd name="T66" fmla="*/ 11 w 1103"/>
              <a:gd name="T67" fmla="*/ 541 h 986"/>
              <a:gd name="T68" fmla="*/ 6 w 1103"/>
              <a:gd name="T69" fmla="*/ 530 h 986"/>
              <a:gd name="T70" fmla="*/ 3 w 1103"/>
              <a:gd name="T71" fmla="*/ 519 h 986"/>
              <a:gd name="T72" fmla="*/ 0 w 1103"/>
              <a:gd name="T73" fmla="*/ 494 h 986"/>
              <a:gd name="T74" fmla="*/ 3 w 1103"/>
              <a:gd name="T75" fmla="*/ 467 h 986"/>
              <a:gd name="T76" fmla="*/ 6 w 1103"/>
              <a:gd name="T77" fmla="*/ 456 h 986"/>
              <a:gd name="T78" fmla="*/ 11 w 1103"/>
              <a:gd name="T79" fmla="*/ 445 h 986"/>
              <a:gd name="T80" fmla="*/ 240 w 1103"/>
              <a:gd name="T81" fmla="*/ 50 h 986"/>
              <a:gd name="T82" fmla="*/ 240 w 1103"/>
              <a:gd name="T83" fmla="*/ 50 h 986"/>
              <a:gd name="T84" fmla="*/ 245 w 1103"/>
              <a:gd name="T85" fmla="*/ 39 h 986"/>
              <a:gd name="T86" fmla="*/ 254 w 1103"/>
              <a:gd name="T87" fmla="*/ 30 h 986"/>
              <a:gd name="T88" fmla="*/ 276 w 1103"/>
              <a:gd name="T89" fmla="*/ 14 h 986"/>
              <a:gd name="T90" fmla="*/ 298 w 1103"/>
              <a:gd name="T91" fmla="*/ 6 h 986"/>
              <a:gd name="T92" fmla="*/ 309 w 1103"/>
              <a:gd name="T93" fmla="*/ 3 h 986"/>
              <a:gd name="T94" fmla="*/ 323 w 1103"/>
              <a:gd name="T95" fmla="*/ 0 h 986"/>
              <a:gd name="T96" fmla="*/ 780 w 1103"/>
              <a:gd name="T9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03" h="986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solidFill>
            <a:schemeClr val="bg1"/>
          </a:solidFill>
          <a:ln w="25400" cap="flat" cmpd="sng" algn="ctr">
            <a:gradFill>
              <a:gsLst>
                <a:gs pos="7000">
                  <a:schemeClr val="accent2"/>
                </a:gs>
                <a:gs pos="50000">
                  <a:schemeClr val="accent5"/>
                </a:gs>
                <a:gs pos="100000">
                  <a:schemeClr val="accent4"/>
                </a:gs>
              </a:gsLst>
              <a:lin ang="300000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1400" b="1" dirty="0">
                <a:solidFill>
                  <a:schemeClr val="accent5"/>
                </a:solidFill>
              </a:rPr>
              <a:t>Strings</a:t>
            </a:r>
          </a:p>
        </p:txBody>
      </p:sp>
      <p:sp>
        <p:nvSpPr>
          <p:cNvPr id="4" name="Freeform 29">
            <a:extLst>
              <a:ext uri="{FF2B5EF4-FFF2-40B4-BE49-F238E27FC236}">
                <a16:creationId xmlns:a16="http://schemas.microsoft.com/office/drawing/2014/main" id="{A3F40C4F-0065-F09F-A91B-2AD1C45B5FA9}"/>
              </a:ext>
            </a:extLst>
          </p:cNvPr>
          <p:cNvSpPr>
            <a:spLocks noChangeAspect="1"/>
          </p:cNvSpPr>
          <p:nvPr/>
        </p:nvSpPr>
        <p:spPr bwMode="auto">
          <a:xfrm>
            <a:off x="242266" y="2835108"/>
            <a:ext cx="1563151" cy="1406835"/>
          </a:xfrm>
          <a:custGeom>
            <a:avLst/>
            <a:gdLst>
              <a:gd name="T0" fmla="*/ 780 w 1103"/>
              <a:gd name="T1" fmla="*/ 0 h 986"/>
              <a:gd name="T2" fmla="*/ 780 w 1103"/>
              <a:gd name="T3" fmla="*/ 0 h 986"/>
              <a:gd name="T4" fmla="*/ 791 w 1103"/>
              <a:gd name="T5" fmla="*/ 3 h 986"/>
              <a:gd name="T6" fmla="*/ 802 w 1103"/>
              <a:gd name="T7" fmla="*/ 6 h 986"/>
              <a:gd name="T8" fmla="*/ 827 w 1103"/>
              <a:gd name="T9" fmla="*/ 14 h 986"/>
              <a:gd name="T10" fmla="*/ 847 w 1103"/>
              <a:gd name="T11" fmla="*/ 30 h 986"/>
              <a:gd name="T12" fmla="*/ 855 w 1103"/>
              <a:gd name="T13" fmla="*/ 39 h 986"/>
              <a:gd name="T14" fmla="*/ 863 w 1103"/>
              <a:gd name="T15" fmla="*/ 50 h 986"/>
              <a:gd name="T16" fmla="*/ 1089 w 1103"/>
              <a:gd name="T17" fmla="*/ 445 h 986"/>
              <a:gd name="T18" fmla="*/ 1089 w 1103"/>
              <a:gd name="T19" fmla="*/ 445 h 986"/>
              <a:gd name="T20" fmla="*/ 1095 w 1103"/>
              <a:gd name="T21" fmla="*/ 456 h 986"/>
              <a:gd name="T22" fmla="*/ 1100 w 1103"/>
              <a:gd name="T23" fmla="*/ 467 h 986"/>
              <a:gd name="T24" fmla="*/ 1103 w 1103"/>
              <a:gd name="T25" fmla="*/ 494 h 986"/>
              <a:gd name="T26" fmla="*/ 1100 w 1103"/>
              <a:gd name="T27" fmla="*/ 519 h 986"/>
              <a:gd name="T28" fmla="*/ 1095 w 1103"/>
              <a:gd name="T29" fmla="*/ 530 h 986"/>
              <a:gd name="T30" fmla="*/ 1089 w 1103"/>
              <a:gd name="T31" fmla="*/ 541 h 986"/>
              <a:gd name="T32" fmla="*/ 863 w 1103"/>
              <a:gd name="T33" fmla="*/ 939 h 986"/>
              <a:gd name="T34" fmla="*/ 863 w 1103"/>
              <a:gd name="T35" fmla="*/ 939 h 986"/>
              <a:gd name="T36" fmla="*/ 855 w 1103"/>
              <a:gd name="T37" fmla="*/ 947 h 986"/>
              <a:gd name="T38" fmla="*/ 847 w 1103"/>
              <a:gd name="T39" fmla="*/ 956 h 986"/>
              <a:gd name="T40" fmla="*/ 827 w 1103"/>
              <a:gd name="T41" fmla="*/ 972 h 986"/>
              <a:gd name="T42" fmla="*/ 802 w 1103"/>
              <a:gd name="T43" fmla="*/ 983 h 986"/>
              <a:gd name="T44" fmla="*/ 791 w 1103"/>
              <a:gd name="T45" fmla="*/ 986 h 986"/>
              <a:gd name="T46" fmla="*/ 780 w 1103"/>
              <a:gd name="T47" fmla="*/ 986 h 986"/>
              <a:gd name="T48" fmla="*/ 323 w 1103"/>
              <a:gd name="T49" fmla="*/ 986 h 986"/>
              <a:gd name="T50" fmla="*/ 323 w 1103"/>
              <a:gd name="T51" fmla="*/ 986 h 986"/>
              <a:gd name="T52" fmla="*/ 309 w 1103"/>
              <a:gd name="T53" fmla="*/ 986 h 986"/>
              <a:gd name="T54" fmla="*/ 298 w 1103"/>
              <a:gd name="T55" fmla="*/ 983 h 986"/>
              <a:gd name="T56" fmla="*/ 276 w 1103"/>
              <a:gd name="T57" fmla="*/ 972 h 986"/>
              <a:gd name="T58" fmla="*/ 254 w 1103"/>
              <a:gd name="T59" fmla="*/ 956 h 986"/>
              <a:gd name="T60" fmla="*/ 245 w 1103"/>
              <a:gd name="T61" fmla="*/ 947 h 986"/>
              <a:gd name="T62" fmla="*/ 240 w 1103"/>
              <a:gd name="T63" fmla="*/ 939 h 986"/>
              <a:gd name="T64" fmla="*/ 11 w 1103"/>
              <a:gd name="T65" fmla="*/ 541 h 986"/>
              <a:gd name="T66" fmla="*/ 11 w 1103"/>
              <a:gd name="T67" fmla="*/ 541 h 986"/>
              <a:gd name="T68" fmla="*/ 6 w 1103"/>
              <a:gd name="T69" fmla="*/ 530 h 986"/>
              <a:gd name="T70" fmla="*/ 3 w 1103"/>
              <a:gd name="T71" fmla="*/ 519 h 986"/>
              <a:gd name="T72" fmla="*/ 0 w 1103"/>
              <a:gd name="T73" fmla="*/ 494 h 986"/>
              <a:gd name="T74" fmla="*/ 3 w 1103"/>
              <a:gd name="T75" fmla="*/ 467 h 986"/>
              <a:gd name="T76" fmla="*/ 6 w 1103"/>
              <a:gd name="T77" fmla="*/ 456 h 986"/>
              <a:gd name="T78" fmla="*/ 11 w 1103"/>
              <a:gd name="T79" fmla="*/ 445 h 986"/>
              <a:gd name="T80" fmla="*/ 240 w 1103"/>
              <a:gd name="T81" fmla="*/ 50 h 986"/>
              <a:gd name="T82" fmla="*/ 240 w 1103"/>
              <a:gd name="T83" fmla="*/ 50 h 986"/>
              <a:gd name="T84" fmla="*/ 245 w 1103"/>
              <a:gd name="T85" fmla="*/ 39 h 986"/>
              <a:gd name="T86" fmla="*/ 254 w 1103"/>
              <a:gd name="T87" fmla="*/ 30 h 986"/>
              <a:gd name="T88" fmla="*/ 276 w 1103"/>
              <a:gd name="T89" fmla="*/ 14 h 986"/>
              <a:gd name="T90" fmla="*/ 298 w 1103"/>
              <a:gd name="T91" fmla="*/ 6 h 986"/>
              <a:gd name="T92" fmla="*/ 309 w 1103"/>
              <a:gd name="T93" fmla="*/ 3 h 986"/>
              <a:gd name="T94" fmla="*/ 323 w 1103"/>
              <a:gd name="T95" fmla="*/ 0 h 986"/>
              <a:gd name="T96" fmla="*/ 780 w 1103"/>
              <a:gd name="T9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03" h="986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gradFill>
            <a:gsLst>
              <a:gs pos="3000">
                <a:schemeClr val="accent2"/>
              </a:gs>
              <a:gs pos="37000">
                <a:schemeClr val="accent5"/>
              </a:gs>
              <a:gs pos="95000">
                <a:schemeClr val="accent4"/>
              </a:gs>
            </a:gsLst>
            <a:lin ang="1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1400" b="1" dirty="0">
                <a:solidFill>
                  <a:schemeClr val="bg1"/>
                </a:solidFill>
              </a:rPr>
              <a:t>Step </a:t>
            </a:r>
            <a:r>
              <a:rPr lang="uk-UA" sz="1400" b="1" dirty="0">
                <a:solidFill>
                  <a:schemeClr val="bg1"/>
                </a:solidFill>
              </a:rPr>
              <a:t>3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" name="Freeform 29">
            <a:extLst>
              <a:ext uri="{FF2B5EF4-FFF2-40B4-BE49-F238E27FC236}">
                <a16:creationId xmlns:a16="http://schemas.microsoft.com/office/drawing/2014/main" id="{0A85E691-4FDB-AD13-6FE6-BA6075D0554B}"/>
              </a:ext>
            </a:extLst>
          </p:cNvPr>
          <p:cNvSpPr>
            <a:spLocks noChangeAspect="1"/>
          </p:cNvSpPr>
          <p:nvPr/>
        </p:nvSpPr>
        <p:spPr bwMode="auto">
          <a:xfrm>
            <a:off x="1595134" y="2054291"/>
            <a:ext cx="1563151" cy="1406835"/>
          </a:xfrm>
          <a:custGeom>
            <a:avLst/>
            <a:gdLst>
              <a:gd name="T0" fmla="*/ 780 w 1103"/>
              <a:gd name="T1" fmla="*/ 0 h 986"/>
              <a:gd name="T2" fmla="*/ 780 w 1103"/>
              <a:gd name="T3" fmla="*/ 0 h 986"/>
              <a:gd name="T4" fmla="*/ 791 w 1103"/>
              <a:gd name="T5" fmla="*/ 3 h 986"/>
              <a:gd name="T6" fmla="*/ 802 w 1103"/>
              <a:gd name="T7" fmla="*/ 6 h 986"/>
              <a:gd name="T8" fmla="*/ 827 w 1103"/>
              <a:gd name="T9" fmla="*/ 14 h 986"/>
              <a:gd name="T10" fmla="*/ 847 w 1103"/>
              <a:gd name="T11" fmla="*/ 30 h 986"/>
              <a:gd name="T12" fmla="*/ 855 w 1103"/>
              <a:gd name="T13" fmla="*/ 39 h 986"/>
              <a:gd name="T14" fmla="*/ 863 w 1103"/>
              <a:gd name="T15" fmla="*/ 50 h 986"/>
              <a:gd name="T16" fmla="*/ 1089 w 1103"/>
              <a:gd name="T17" fmla="*/ 445 h 986"/>
              <a:gd name="T18" fmla="*/ 1089 w 1103"/>
              <a:gd name="T19" fmla="*/ 445 h 986"/>
              <a:gd name="T20" fmla="*/ 1095 w 1103"/>
              <a:gd name="T21" fmla="*/ 456 h 986"/>
              <a:gd name="T22" fmla="*/ 1100 w 1103"/>
              <a:gd name="T23" fmla="*/ 467 h 986"/>
              <a:gd name="T24" fmla="*/ 1103 w 1103"/>
              <a:gd name="T25" fmla="*/ 494 h 986"/>
              <a:gd name="T26" fmla="*/ 1100 w 1103"/>
              <a:gd name="T27" fmla="*/ 519 h 986"/>
              <a:gd name="T28" fmla="*/ 1095 w 1103"/>
              <a:gd name="T29" fmla="*/ 530 h 986"/>
              <a:gd name="T30" fmla="*/ 1089 w 1103"/>
              <a:gd name="T31" fmla="*/ 541 h 986"/>
              <a:gd name="T32" fmla="*/ 863 w 1103"/>
              <a:gd name="T33" fmla="*/ 939 h 986"/>
              <a:gd name="T34" fmla="*/ 863 w 1103"/>
              <a:gd name="T35" fmla="*/ 939 h 986"/>
              <a:gd name="T36" fmla="*/ 855 w 1103"/>
              <a:gd name="T37" fmla="*/ 947 h 986"/>
              <a:gd name="T38" fmla="*/ 847 w 1103"/>
              <a:gd name="T39" fmla="*/ 956 h 986"/>
              <a:gd name="T40" fmla="*/ 827 w 1103"/>
              <a:gd name="T41" fmla="*/ 972 h 986"/>
              <a:gd name="T42" fmla="*/ 802 w 1103"/>
              <a:gd name="T43" fmla="*/ 983 h 986"/>
              <a:gd name="T44" fmla="*/ 791 w 1103"/>
              <a:gd name="T45" fmla="*/ 986 h 986"/>
              <a:gd name="T46" fmla="*/ 780 w 1103"/>
              <a:gd name="T47" fmla="*/ 986 h 986"/>
              <a:gd name="T48" fmla="*/ 323 w 1103"/>
              <a:gd name="T49" fmla="*/ 986 h 986"/>
              <a:gd name="T50" fmla="*/ 323 w 1103"/>
              <a:gd name="T51" fmla="*/ 986 h 986"/>
              <a:gd name="T52" fmla="*/ 309 w 1103"/>
              <a:gd name="T53" fmla="*/ 986 h 986"/>
              <a:gd name="T54" fmla="*/ 298 w 1103"/>
              <a:gd name="T55" fmla="*/ 983 h 986"/>
              <a:gd name="T56" fmla="*/ 276 w 1103"/>
              <a:gd name="T57" fmla="*/ 972 h 986"/>
              <a:gd name="T58" fmla="*/ 254 w 1103"/>
              <a:gd name="T59" fmla="*/ 956 h 986"/>
              <a:gd name="T60" fmla="*/ 245 w 1103"/>
              <a:gd name="T61" fmla="*/ 947 h 986"/>
              <a:gd name="T62" fmla="*/ 240 w 1103"/>
              <a:gd name="T63" fmla="*/ 939 h 986"/>
              <a:gd name="T64" fmla="*/ 11 w 1103"/>
              <a:gd name="T65" fmla="*/ 541 h 986"/>
              <a:gd name="T66" fmla="*/ 11 w 1103"/>
              <a:gd name="T67" fmla="*/ 541 h 986"/>
              <a:gd name="T68" fmla="*/ 6 w 1103"/>
              <a:gd name="T69" fmla="*/ 530 h 986"/>
              <a:gd name="T70" fmla="*/ 3 w 1103"/>
              <a:gd name="T71" fmla="*/ 519 h 986"/>
              <a:gd name="T72" fmla="*/ 0 w 1103"/>
              <a:gd name="T73" fmla="*/ 494 h 986"/>
              <a:gd name="T74" fmla="*/ 3 w 1103"/>
              <a:gd name="T75" fmla="*/ 467 h 986"/>
              <a:gd name="T76" fmla="*/ 6 w 1103"/>
              <a:gd name="T77" fmla="*/ 456 h 986"/>
              <a:gd name="T78" fmla="*/ 11 w 1103"/>
              <a:gd name="T79" fmla="*/ 445 h 986"/>
              <a:gd name="T80" fmla="*/ 240 w 1103"/>
              <a:gd name="T81" fmla="*/ 50 h 986"/>
              <a:gd name="T82" fmla="*/ 240 w 1103"/>
              <a:gd name="T83" fmla="*/ 50 h 986"/>
              <a:gd name="T84" fmla="*/ 245 w 1103"/>
              <a:gd name="T85" fmla="*/ 39 h 986"/>
              <a:gd name="T86" fmla="*/ 254 w 1103"/>
              <a:gd name="T87" fmla="*/ 30 h 986"/>
              <a:gd name="T88" fmla="*/ 276 w 1103"/>
              <a:gd name="T89" fmla="*/ 14 h 986"/>
              <a:gd name="T90" fmla="*/ 298 w 1103"/>
              <a:gd name="T91" fmla="*/ 6 h 986"/>
              <a:gd name="T92" fmla="*/ 309 w 1103"/>
              <a:gd name="T93" fmla="*/ 3 h 986"/>
              <a:gd name="T94" fmla="*/ 323 w 1103"/>
              <a:gd name="T95" fmla="*/ 0 h 986"/>
              <a:gd name="T96" fmla="*/ 780 w 1103"/>
              <a:gd name="T9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03" h="986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solidFill>
            <a:schemeClr val="bg1"/>
          </a:solidFill>
          <a:ln w="25400" cap="flat" cmpd="sng" algn="ctr">
            <a:gradFill>
              <a:gsLst>
                <a:gs pos="7000">
                  <a:schemeClr val="accent2"/>
                </a:gs>
                <a:gs pos="50000">
                  <a:schemeClr val="accent5"/>
                </a:gs>
                <a:gs pos="100000">
                  <a:schemeClr val="accent4"/>
                </a:gs>
              </a:gsLst>
              <a:lin ang="300000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1400" b="1" dirty="0">
                <a:solidFill>
                  <a:schemeClr val="accent5"/>
                </a:solidFill>
              </a:rPr>
              <a:t>Lists</a:t>
            </a:r>
          </a:p>
        </p:txBody>
      </p:sp>
      <p:sp>
        <p:nvSpPr>
          <p:cNvPr id="10" name="Freeform 29">
            <a:extLst>
              <a:ext uri="{FF2B5EF4-FFF2-40B4-BE49-F238E27FC236}">
                <a16:creationId xmlns:a16="http://schemas.microsoft.com/office/drawing/2014/main" id="{62AC6E3B-B03C-27F5-ABFC-6ADA1BBE3AFF}"/>
              </a:ext>
            </a:extLst>
          </p:cNvPr>
          <p:cNvSpPr>
            <a:spLocks noChangeAspect="1"/>
          </p:cNvSpPr>
          <p:nvPr/>
        </p:nvSpPr>
        <p:spPr bwMode="auto">
          <a:xfrm>
            <a:off x="1590269" y="3615925"/>
            <a:ext cx="1563151" cy="1406835"/>
          </a:xfrm>
          <a:custGeom>
            <a:avLst/>
            <a:gdLst>
              <a:gd name="T0" fmla="*/ 780 w 1103"/>
              <a:gd name="T1" fmla="*/ 0 h 986"/>
              <a:gd name="T2" fmla="*/ 780 w 1103"/>
              <a:gd name="T3" fmla="*/ 0 h 986"/>
              <a:gd name="T4" fmla="*/ 791 w 1103"/>
              <a:gd name="T5" fmla="*/ 3 h 986"/>
              <a:gd name="T6" fmla="*/ 802 w 1103"/>
              <a:gd name="T7" fmla="*/ 6 h 986"/>
              <a:gd name="T8" fmla="*/ 827 w 1103"/>
              <a:gd name="T9" fmla="*/ 14 h 986"/>
              <a:gd name="T10" fmla="*/ 847 w 1103"/>
              <a:gd name="T11" fmla="*/ 30 h 986"/>
              <a:gd name="T12" fmla="*/ 855 w 1103"/>
              <a:gd name="T13" fmla="*/ 39 h 986"/>
              <a:gd name="T14" fmla="*/ 863 w 1103"/>
              <a:gd name="T15" fmla="*/ 50 h 986"/>
              <a:gd name="T16" fmla="*/ 1089 w 1103"/>
              <a:gd name="T17" fmla="*/ 445 h 986"/>
              <a:gd name="T18" fmla="*/ 1089 w 1103"/>
              <a:gd name="T19" fmla="*/ 445 h 986"/>
              <a:gd name="T20" fmla="*/ 1095 w 1103"/>
              <a:gd name="T21" fmla="*/ 456 h 986"/>
              <a:gd name="T22" fmla="*/ 1100 w 1103"/>
              <a:gd name="T23" fmla="*/ 467 h 986"/>
              <a:gd name="T24" fmla="*/ 1103 w 1103"/>
              <a:gd name="T25" fmla="*/ 494 h 986"/>
              <a:gd name="T26" fmla="*/ 1100 w 1103"/>
              <a:gd name="T27" fmla="*/ 519 h 986"/>
              <a:gd name="T28" fmla="*/ 1095 w 1103"/>
              <a:gd name="T29" fmla="*/ 530 h 986"/>
              <a:gd name="T30" fmla="*/ 1089 w 1103"/>
              <a:gd name="T31" fmla="*/ 541 h 986"/>
              <a:gd name="T32" fmla="*/ 863 w 1103"/>
              <a:gd name="T33" fmla="*/ 939 h 986"/>
              <a:gd name="T34" fmla="*/ 863 w 1103"/>
              <a:gd name="T35" fmla="*/ 939 h 986"/>
              <a:gd name="T36" fmla="*/ 855 w 1103"/>
              <a:gd name="T37" fmla="*/ 947 h 986"/>
              <a:gd name="T38" fmla="*/ 847 w 1103"/>
              <a:gd name="T39" fmla="*/ 956 h 986"/>
              <a:gd name="T40" fmla="*/ 827 w 1103"/>
              <a:gd name="T41" fmla="*/ 972 h 986"/>
              <a:gd name="T42" fmla="*/ 802 w 1103"/>
              <a:gd name="T43" fmla="*/ 983 h 986"/>
              <a:gd name="T44" fmla="*/ 791 w 1103"/>
              <a:gd name="T45" fmla="*/ 986 h 986"/>
              <a:gd name="T46" fmla="*/ 780 w 1103"/>
              <a:gd name="T47" fmla="*/ 986 h 986"/>
              <a:gd name="T48" fmla="*/ 323 w 1103"/>
              <a:gd name="T49" fmla="*/ 986 h 986"/>
              <a:gd name="T50" fmla="*/ 323 w 1103"/>
              <a:gd name="T51" fmla="*/ 986 h 986"/>
              <a:gd name="T52" fmla="*/ 309 w 1103"/>
              <a:gd name="T53" fmla="*/ 986 h 986"/>
              <a:gd name="T54" fmla="*/ 298 w 1103"/>
              <a:gd name="T55" fmla="*/ 983 h 986"/>
              <a:gd name="T56" fmla="*/ 276 w 1103"/>
              <a:gd name="T57" fmla="*/ 972 h 986"/>
              <a:gd name="T58" fmla="*/ 254 w 1103"/>
              <a:gd name="T59" fmla="*/ 956 h 986"/>
              <a:gd name="T60" fmla="*/ 245 w 1103"/>
              <a:gd name="T61" fmla="*/ 947 h 986"/>
              <a:gd name="T62" fmla="*/ 240 w 1103"/>
              <a:gd name="T63" fmla="*/ 939 h 986"/>
              <a:gd name="T64" fmla="*/ 11 w 1103"/>
              <a:gd name="T65" fmla="*/ 541 h 986"/>
              <a:gd name="T66" fmla="*/ 11 w 1103"/>
              <a:gd name="T67" fmla="*/ 541 h 986"/>
              <a:gd name="T68" fmla="*/ 6 w 1103"/>
              <a:gd name="T69" fmla="*/ 530 h 986"/>
              <a:gd name="T70" fmla="*/ 3 w 1103"/>
              <a:gd name="T71" fmla="*/ 519 h 986"/>
              <a:gd name="T72" fmla="*/ 0 w 1103"/>
              <a:gd name="T73" fmla="*/ 494 h 986"/>
              <a:gd name="T74" fmla="*/ 3 w 1103"/>
              <a:gd name="T75" fmla="*/ 467 h 986"/>
              <a:gd name="T76" fmla="*/ 6 w 1103"/>
              <a:gd name="T77" fmla="*/ 456 h 986"/>
              <a:gd name="T78" fmla="*/ 11 w 1103"/>
              <a:gd name="T79" fmla="*/ 445 h 986"/>
              <a:gd name="T80" fmla="*/ 240 w 1103"/>
              <a:gd name="T81" fmla="*/ 50 h 986"/>
              <a:gd name="T82" fmla="*/ 240 w 1103"/>
              <a:gd name="T83" fmla="*/ 50 h 986"/>
              <a:gd name="T84" fmla="*/ 245 w 1103"/>
              <a:gd name="T85" fmla="*/ 39 h 986"/>
              <a:gd name="T86" fmla="*/ 254 w 1103"/>
              <a:gd name="T87" fmla="*/ 30 h 986"/>
              <a:gd name="T88" fmla="*/ 276 w 1103"/>
              <a:gd name="T89" fmla="*/ 14 h 986"/>
              <a:gd name="T90" fmla="*/ 298 w 1103"/>
              <a:gd name="T91" fmla="*/ 6 h 986"/>
              <a:gd name="T92" fmla="*/ 309 w 1103"/>
              <a:gd name="T93" fmla="*/ 3 h 986"/>
              <a:gd name="T94" fmla="*/ 323 w 1103"/>
              <a:gd name="T95" fmla="*/ 0 h 986"/>
              <a:gd name="T96" fmla="*/ 780 w 1103"/>
              <a:gd name="T9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03" h="986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gradFill>
            <a:gsLst>
              <a:gs pos="3000">
                <a:schemeClr val="accent2"/>
              </a:gs>
              <a:gs pos="37000">
                <a:schemeClr val="accent5"/>
              </a:gs>
              <a:gs pos="95000">
                <a:schemeClr val="accent4"/>
              </a:gs>
            </a:gsLst>
            <a:lin ang="1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1400" b="1" dirty="0">
                <a:solidFill>
                  <a:schemeClr val="bg1"/>
                </a:solidFill>
              </a:rPr>
              <a:t>Step </a:t>
            </a:r>
            <a:r>
              <a:rPr lang="uk-UA" sz="1400" b="1" dirty="0">
                <a:solidFill>
                  <a:schemeClr val="bg1"/>
                </a:solidFill>
              </a:rPr>
              <a:t>4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" name="Freeform 29">
            <a:extLst>
              <a:ext uri="{FF2B5EF4-FFF2-40B4-BE49-F238E27FC236}">
                <a16:creationId xmlns:a16="http://schemas.microsoft.com/office/drawing/2014/main" id="{71F988FC-015A-2BE6-D51B-2849D13C8199}"/>
              </a:ext>
            </a:extLst>
          </p:cNvPr>
          <p:cNvSpPr>
            <a:spLocks noChangeAspect="1"/>
          </p:cNvSpPr>
          <p:nvPr/>
        </p:nvSpPr>
        <p:spPr bwMode="auto">
          <a:xfrm>
            <a:off x="237402" y="2835108"/>
            <a:ext cx="1563151" cy="1406835"/>
          </a:xfrm>
          <a:custGeom>
            <a:avLst/>
            <a:gdLst>
              <a:gd name="T0" fmla="*/ 780 w 1103"/>
              <a:gd name="T1" fmla="*/ 0 h 986"/>
              <a:gd name="T2" fmla="*/ 780 w 1103"/>
              <a:gd name="T3" fmla="*/ 0 h 986"/>
              <a:gd name="T4" fmla="*/ 791 w 1103"/>
              <a:gd name="T5" fmla="*/ 3 h 986"/>
              <a:gd name="T6" fmla="*/ 802 w 1103"/>
              <a:gd name="T7" fmla="*/ 6 h 986"/>
              <a:gd name="T8" fmla="*/ 827 w 1103"/>
              <a:gd name="T9" fmla="*/ 14 h 986"/>
              <a:gd name="T10" fmla="*/ 847 w 1103"/>
              <a:gd name="T11" fmla="*/ 30 h 986"/>
              <a:gd name="T12" fmla="*/ 855 w 1103"/>
              <a:gd name="T13" fmla="*/ 39 h 986"/>
              <a:gd name="T14" fmla="*/ 863 w 1103"/>
              <a:gd name="T15" fmla="*/ 50 h 986"/>
              <a:gd name="T16" fmla="*/ 1089 w 1103"/>
              <a:gd name="T17" fmla="*/ 445 h 986"/>
              <a:gd name="T18" fmla="*/ 1089 w 1103"/>
              <a:gd name="T19" fmla="*/ 445 h 986"/>
              <a:gd name="T20" fmla="*/ 1095 w 1103"/>
              <a:gd name="T21" fmla="*/ 456 h 986"/>
              <a:gd name="T22" fmla="*/ 1100 w 1103"/>
              <a:gd name="T23" fmla="*/ 467 h 986"/>
              <a:gd name="T24" fmla="*/ 1103 w 1103"/>
              <a:gd name="T25" fmla="*/ 494 h 986"/>
              <a:gd name="T26" fmla="*/ 1100 w 1103"/>
              <a:gd name="T27" fmla="*/ 519 h 986"/>
              <a:gd name="T28" fmla="*/ 1095 w 1103"/>
              <a:gd name="T29" fmla="*/ 530 h 986"/>
              <a:gd name="T30" fmla="*/ 1089 w 1103"/>
              <a:gd name="T31" fmla="*/ 541 h 986"/>
              <a:gd name="T32" fmla="*/ 863 w 1103"/>
              <a:gd name="T33" fmla="*/ 939 h 986"/>
              <a:gd name="T34" fmla="*/ 863 w 1103"/>
              <a:gd name="T35" fmla="*/ 939 h 986"/>
              <a:gd name="T36" fmla="*/ 855 w 1103"/>
              <a:gd name="T37" fmla="*/ 947 h 986"/>
              <a:gd name="T38" fmla="*/ 847 w 1103"/>
              <a:gd name="T39" fmla="*/ 956 h 986"/>
              <a:gd name="T40" fmla="*/ 827 w 1103"/>
              <a:gd name="T41" fmla="*/ 972 h 986"/>
              <a:gd name="T42" fmla="*/ 802 w 1103"/>
              <a:gd name="T43" fmla="*/ 983 h 986"/>
              <a:gd name="T44" fmla="*/ 791 w 1103"/>
              <a:gd name="T45" fmla="*/ 986 h 986"/>
              <a:gd name="T46" fmla="*/ 780 w 1103"/>
              <a:gd name="T47" fmla="*/ 986 h 986"/>
              <a:gd name="T48" fmla="*/ 323 w 1103"/>
              <a:gd name="T49" fmla="*/ 986 h 986"/>
              <a:gd name="T50" fmla="*/ 323 w 1103"/>
              <a:gd name="T51" fmla="*/ 986 h 986"/>
              <a:gd name="T52" fmla="*/ 309 w 1103"/>
              <a:gd name="T53" fmla="*/ 986 h 986"/>
              <a:gd name="T54" fmla="*/ 298 w 1103"/>
              <a:gd name="T55" fmla="*/ 983 h 986"/>
              <a:gd name="T56" fmla="*/ 276 w 1103"/>
              <a:gd name="T57" fmla="*/ 972 h 986"/>
              <a:gd name="T58" fmla="*/ 254 w 1103"/>
              <a:gd name="T59" fmla="*/ 956 h 986"/>
              <a:gd name="T60" fmla="*/ 245 w 1103"/>
              <a:gd name="T61" fmla="*/ 947 h 986"/>
              <a:gd name="T62" fmla="*/ 240 w 1103"/>
              <a:gd name="T63" fmla="*/ 939 h 986"/>
              <a:gd name="T64" fmla="*/ 11 w 1103"/>
              <a:gd name="T65" fmla="*/ 541 h 986"/>
              <a:gd name="T66" fmla="*/ 11 w 1103"/>
              <a:gd name="T67" fmla="*/ 541 h 986"/>
              <a:gd name="T68" fmla="*/ 6 w 1103"/>
              <a:gd name="T69" fmla="*/ 530 h 986"/>
              <a:gd name="T70" fmla="*/ 3 w 1103"/>
              <a:gd name="T71" fmla="*/ 519 h 986"/>
              <a:gd name="T72" fmla="*/ 0 w 1103"/>
              <a:gd name="T73" fmla="*/ 494 h 986"/>
              <a:gd name="T74" fmla="*/ 3 w 1103"/>
              <a:gd name="T75" fmla="*/ 467 h 986"/>
              <a:gd name="T76" fmla="*/ 6 w 1103"/>
              <a:gd name="T77" fmla="*/ 456 h 986"/>
              <a:gd name="T78" fmla="*/ 11 w 1103"/>
              <a:gd name="T79" fmla="*/ 445 h 986"/>
              <a:gd name="T80" fmla="*/ 240 w 1103"/>
              <a:gd name="T81" fmla="*/ 50 h 986"/>
              <a:gd name="T82" fmla="*/ 240 w 1103"/>
              <a:gd name="T83" fmla="*/ 50 h 986"/>
              <a:gd name="T84" fmla="*/ 245 w 1103"/>
              <a:gd name="T85" fmla="*/ 39 h 986"/>
              <a:gd name="T86" fmla="*/ 254 w 1103"/>
              <a:gd name="T87" fmla="*/ 30 h 986"/>
              <a:gd name="T88" fmla="*/ 276 w 1103"/>
              <a:gd name="T89" fmla="*/ 14 h 986"/>
              <a:gd name="T90" fmla="*/ 298 w 1103"/>
              <a:gd name="T91" fmla="*/ 6 h 986"/>
              <a:gd name="T92" fmla="*/ 309 w 1103"/>
              <a:gd name="T93" fmla="*/ 3 h 986"/>
              <a:gd name="T94" fmla="*/ 323 w 1103"/>
              <a:gd name="T95" fmla="*/ 0 h 986"/>
              <a:gd name="T96" fmla="*/ 780 w 1103"/>
              <a:gd name="T9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03" h="986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solidFill>
            <a:schemeClr val="bg1"/>
          </a:solidFill>
          <a:ln w="25400" cap="flat" cmpd="sng" algn="ctr">
            <a:gradFill>
              <a:gsLst>
                <a:gs pos="7000">
                  <a:schemeClr val="accent2"/>
                </a:gs>
                <a:gs pos="50000">
                  <a:schemeClr val="accent5"/>
                </a:gs>
                <a:gs pos="100000">
                  <a:schemeClr val="accent4"/>
                </a:gs>
              </a:gsLst>
              <a:lin ang="300000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1400" b="1" dirty="0">
                <a:solidFill>
                  <a:schemeClr val="accent5"/>
                </a:solidFill>
              </a:rPr>
              <a:t>Hashes</a:t>
            </a:r>
          </a:p>
        </p:txBody>
      </p:sp>
      <p:sp>
        <p:nvSpPr>
          <p:cNvPr id="12" name="Freeform 29">
            <a:extLst>
              <a:ext uri="{FF2B5EF4-FFF2-40B4-BE49-F238E27FC236}">
                <a16:creationId xmlns:a16="http://schemas.microsoft.com/office/drawing/2014/main" id="{F8EC3405-72BC-142F-7660-5EEDB5D5F323}"/>
              </a:ext>
            </a:extLst>
          </p:cNvPr>
          <p:cNvSpPr>
            <a:spLocks noChangeAspect="1"/>
          </p:cNvSpPr>
          <p:nvPr/>
        </p:nvSpPr>
        <p:spPr bwMode="auto">
          <a:xfrm>
            <a:off x="247130" y="4396742"/>
            <a:ext cx="1563151" cy="1406835"/>
          </a:xfrm>
          <a:custGeom>
            <a:avLst/>
            <a:gdLst>
              <a:gd name="T0" fmla="*/ 780 w 1103"/>
              <a:gd name="T1" fmla="*/ 0 h 986"/>
              <a:gd name="T2" fmla="*/ 780 w 1103"/>
              <a:gd name="T3" fmla="*/ 0 h 986"/>
              <a:gd name="T4" fmla="*/ 791 w 1103"/>
              <a:gd name="T5" fmla="*/ 3 h 986"/>
              <a:gd name="T6" fmla="*/ 802 w 1103"/>
              <a:gd name="T7" fmla="*/ 6 h 986"/>
              <a:gd name="T8" fmla="*/ 827 w 1103"/>
              <a:gd name="T9" fmla="*/ 14 h 986"/>
              <a:gd name="T10" fmla="*/ 847 w 1103"/>
              <a:gd name="T11" fmla="*/ 30 h 986"/>
              <a:gd name="T12" fmla="*/ 855 w 1103"/>
              <a:gd name="T13" fmla="*/ 39 h 986"/>
              <a:gd name="T14" fmla="*/ 863 w 1103"/>
              <a:gd name="T15" fmla="*/ 50 h 986"/>
              <a:gd name="T16" fmla="*/ 1089 w 1103"/>
              <a:gd name="T17" fmla="*/ 445 h 986"/>
              <a:gd name="T18" fmla="*/ 1089 w 1103"/>
              <a:gd name="T19" fmla="*/ 445 h 986"/>
              <a:gd name="T20" fmla="*/ 1095 w 1103"/>
              <a:gd name="T21" fmla="*/ 456 h 986"/>
              <a:gd name="T22" fmla="*/ 1100 w 1103"/>
              <a:gd name="T23" fmla="*/ 467 h 986"/>
              <a:gd name="T24" fmla="*/ 1103 w 1103"/>
              <a:gd name="T25" fmla="*/ 494 h 986"/>
              <a:gd name="T26" fmla="*/ 1100 w 1103"/>
              <a:gd name="T27" fmla="*/ 519 h 986"/>
              <a:gd name="T28" fmla="*/ 1095 w 1103"/>
              <a:gd name="T29" fmla="*/ 530 h 986"/>
              <a:gd name="T30" fmla="*/ 1089 w 1103"/>
              <a:gd name="T31" fmla="*/ 541 h 986"/>
              <a:gd name="T32" fmla="*/ 863 w 1103"/>
              <a:gd name="T33" fmla="*/ 939 h 986"/>
              <a:gd name="T34" fmla="*/ 863 w 1103"/>
              <a:gd name="T35" fmla="*/ 939 h 986"/>
              <a:gd name="T36" fmla="*/ 855 w 1103"/>
              <a:gd name="T37" fmla="*/ 947 h 986"/>
              <a:gd name="T38" fmla="*/ 847 w 1103"/>
              <a:gd name="T39" fmla="*/ 956 h 986"/>
              <a:gd name="T40" fmla="*/ 827 w 1103"/>
              <a:gd name="T41" fmla="*/ 972 h 986"/>
              <a:gd name="T42" fmla="*/ 802 w 1103"/>
              <a:gd name="T43" fmla="*/ 983 h 986"/>
              <a:gd name="T44" fmla="*/ 791 w 1103"/>
              <a:gd name="T45" fmla="*/ 986 h 986"/>
              <a:gd name="T46" fmla="*/ 780 w 1103"/>
              <a:gd name="T47" fmla="*/ 986 h 986"/>
              <a:gd name="T48" fmla="*/ 323 w 1103"/>
              <a:gd name="T49" fmla="*/ 986 h 986"/>
              <a:gd name="T50" fmla="*/ 323 w 1103"/>
              <a:gd name="T51" fmla="*/ 986 h 986"/>
              <a:gd name="T52" fmla="*/ 309 w 1103"/>
              <a:gd name="T53" fmla="*/ 986 h 986"/>
              <a:gd name="T54" fmla="*/ 298 w 1103"/>
              <a:gd name="T55" fmla="*/ 983 h 986"/>
              <a:gd name="T56" fmla="*/ 276 w 1103"/>
              <a:gd name="T57" fmla="*/ 972 h 986"/>
              <a:gd name="T58" fmla="*/ 254 w 1103"/>
              <a:gd name="T59" fmla="*/ 956 h 986"/>
              <a:gd name="T60" fmla="*/ 245 w 1103"/>
              <a:gd name="T61" fmla="*/ 947 h 986"/>
              <a:gd name="T62" fmla="*/ 240 w 1103"/>
              <a:gd name="T63" fmla="*/ 939 h 986"/>
              <a:gd name="T64" fmla="*/ 11 w 1103"/>
              <a:gd name="T65" fmla="*/ 541 h 986"/>
              <a:gd name="T66" fmla="*/ 11 w 1103"/>
              <a:gd name="T67" fmla="*/ 541 h 986"/>
              <a:gd name="T68" fmla="*/ 6 w 1103"/>
              <a:gd name="T69" fmla="*/ 530 h 986"/>
              <a:gd name="T70" fmla="*/ 3 w 1103"/>
              <a:gd name="T71" fmla="*/ 519 h 986"/>
              <a:gd name="T72" fmla="*/ 0 w 1103"/>
              <a:gd name="T73" fmla="*/ 494 h 986"/>
              <a:gd name="T74" fmla="*/ 3 w 1103"/>
              <a:gd name="T75" fmla="*/ 467 h 986"/>
              <a:gd name="T76" fmla="*/ 6 w 1103"/>
              <a:gd name="T77" fmla="*/ 456 h 986"/>
              <a:gd name="T78" fmla="*/ 11 w 1103"/>
              <a:gd name="T79" fmla="*/ 445 h 986"/>
              <a:gd name="T80" fmla="*/ 240 w 1103"/>
              <a:gd name="T81" fmla="*/ 50 h 986"/>
              <a:gd name="T82" fmla="*/ 240 w 1103"/>
              <a:gd name="T83" fmla="*/ 50 h 986"/>
              <a:gd name="T84" fmla="*/ 245 w 1103"/>
              <a:gd name="T85" fmla="*/ 39 h 986"/>
              <a:gd name="T86" fmla="*/ 254 w 1103"/>
              <a:gd name="T87" fmla="*/ 30 h 986"/>
              <a:gd name="T88" fmla="*/ 276 w 1103"/>
              <a:gd name="T89" fmla="*/ 14 h 986"/>
              <a:gd name="T90" fmla="*/ 298 w 1103"/>
              <a:gd name="T91" fmla="*/ 6 h 986"/>
              <a:gd name="T92" fmla="*/ 309 w 1103"/>
              <a:gd name="T93" fmla="*/ 3 h 986"/>
              <a:gd name="T94" fmla="*/ 323 w 1103"/>
              <a:gd name="T95" fmla="*/ 0 h 986"/>
              <a:gd name="T96" fmla="*/ 780 w 1103"/>
              <a:gd name="T9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03" h="986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gradFill>
            <a:gsLst>
              <a:gs pos="3000">
                <a:schemeClr val="accent2"/>
              </a:gs>
              <a:gs pos="37000">
                <a:schemeClr val="accent5"/>
              </a:gs>
              <a:gs pos="95000">
                <a:schemeClr val="accent4"/>
              </a:gs>
            </a:gsLst>
            <a:lin ang="1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1400" b="1" dirty="0">
                <a:solidFill>
                  <a:schemeClr val="bg1"/>
                </a:solidFill>
              </a:rPr>
              <a:t>Sorted Sets (</a:t>
            </a:r>
            <a:r>
              <a:rPr lang="en-US" sz="1400" b="1" dirty="0" err="1">
                <a:solidFill>
                  <a:schemeClr val="bg1"/>
                </a:solidFill>
              </a:rPr>
              <a:t>ZSets</a:t>
            </a:r>
            <a:r>
              <a:rPr lang="en-US" sz="14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3" name="Freeform 29">
            <a:extLst>
              <a:ext uri="{FF2B5EF4-FFF2-40B4-BE49-F238E27FC236}">
                <a16:creationId xmlns:a16="http://schemas.microsoft.com/office/drawing/2014/main" id="{3B3234EB-30C9-A010-F277-EE9E9ECFC9BD}"/>
              </a:ext>
            </a:extLst>
          </p:cNvPr>
          <p:cNvSpPr>
            <a:spLocks noChangeAspect="1"/>
          </p:cNvSpPr>
          <p:nvPr/>
        </p:nvSpPr>
        <p:spPr bwMode="auto">
          <a:xfrm>
            <a:off x="1580541" y="3615925"/>
            <a:ext cx="1563151" cy="1406835"/>
          </a:xfrm>
          <a:custGeom>
            <a:avLst/>
            <a:gdLst>
              <a:gd name="T0" fmla="*/ 780 w 1103"/>
              <a:gd name="T1" fmla="*/ 0 h 986"/>
              <a:gd name="T2" fmla="*/ 780 w 1103"/>
              <a:gd name="T3" fmla="*/ 0 h 986"/>
              <a:gd name="T4" fmla="*/ 791 w 1103"/>
              <a:gd name="T5" fmla="*/ 3 h 986"/>
              <a:gd name="T6" fmla="*/ 802 w 1103"/>
              <a:gd name="T7" fmla="*/ 6 h 986"/>
              <a:gd name="T8" fmla="*/ 827 w 1103"/>
              <a:gd name="T9" fmla="*/ 14 h 986"/>
              <a:gd name="T10" fmla="*/ 847 w 1103"/>
              <a:gd name="T11" fmla="*/ 30 h 986"/>
              <a:gd name="T12" fmla="*/ 855 w 1103"/>
              <a:gd name="T13" fmla="*/ 39 h 986"/>
              <a:gd name="T14" fmla="*/ 863 w 1103"/>
              <a:gd name="T15" fmla="*/ 50 h 986"/>
              <a:gd name="T16" fmla="*/ 1089 w 1103"/>
              <a:gd name="T17" fmla="*/ 445 h 986"/>
              <a:gd name="T18" fmla="*/ 1089 w 1103"/>
              <a:gd name="T19" fmla="*/ 445 h 986"/>
              <a:gd name="T20" fmla="*/ 1095 w 1103"/>
              <a:gd name="T21" fmla="*/ 456 h 986"/>
              <a:gd name="T22" fmla="*/ 1100 w 1103"/>
              <a:gd name="T23" fmla="*/ 467 h 986"/>
              <a:gd name="T24" fmla="*/ 1103 w 1103"/>
              <a:gd name="T25" fmla="*/ 494 h 986"/>
              <a:gd name="T26" fmla="*/ 1100 w 1103"/>
              <a:gd name="T27" fmla="*/ 519 h 986"/>
              <a:gd name="T28" fmla="*/ 1095 w 1103"/>
              <a:gd name="T29" fmla="*/ 530 h 986"/>
              <a:gd name="T30" fmla="*/ 1089 w 1103"/>
              <a:gd name="T31" fmla="*/ 541 h 986"/>
              <a:gd name="T32" fmla="*/ 863 w 1103"/>
              <a:gd name="T33" fmla="*/ 939 h 986"/>
              <a:gd name="T34" fmla="*/ 863 w 1103"/>
              <a:gd name="T35" fmla="*/ 939 h 986"/>
              <a:gd name="T36" fmla="*/ 855 w 1103"/>
              <a:gd name="T37" fmla="*/ 947 h 986"/>
              <a:gd name="T38" fmla="*/ 847 w 1103"/>
              <a:gd name="T39" fmla="*/ 956 h 986"/>
              <a:gd name="T40" fmla="*/ 827 w 1103"/>
              <a:gd name="T41" fmla="*/ 972 h 986"/>
              <a:gd name="T42" fmla="*/ 802 w 1103"/>
              <a:gd name="T43" fmla="*/ 983 h 986"/>
              <a:gd name="T44" fmla="*/ 791 w 1103"/>
              <a:gd name="T45" fmla="*/ 986 h 986"/>
              <a:gd name="T46" fmla="*/ 780 w 1103"/>
              <a:gd name="T47" fmla="*/ 986 h 986"/>
              <a:gd name="T48" fmla="*/ 323 w 1103"/>
              <a:gd name="T49" fmla="*/ 986 h 986"/>
              <a:gd name="T50" fmla="*/ 323 w 1103"/>
              <a:gd name="T51" fmla="*/ 986 h 986"/>
              <a:gd name="T52" fmla="*/ 309 w 1103"/>
              <a:gd name="T53" fmla="*/ 986 h 986"/>
              <a:gd name="T54" fmla="*/ 298 w 1103"/>
              <a:gd name="T55" fmla="*/ 983 h 986"/>
              <a:gd name="T56" fmla="*/ 276 w 1103"/>
              <a:gd name="T57" fmla="*/ 972 h 986"/>
              <a:gd name="T58" fmla="*/ 254 w 1103"/>
              <a:gd name="T59" fmla="*/ 956 h 986"/>
              <a:gd name="T60" fmla="*/ 245 w 1103"/>
              <a:gd name="T61" fmla="*/ 947 h 986"/>
              <a:gd name="T62" fmla="*/ 240 w 1103"/>
              <a:gd name="T63" fmla="*/ 939 h 986"/>
              <a:gd name="T64" fmla="*/ 11 w 1103"/>
              <a:gd name="T65" fmla="*/ 541 h 986"/>
              <a:gd name="T66" fmla="*/ 11 w 1103"/>
              <a:gd name="T67" fmla="*/ 541 h 986"/>
              <a:gd name="T68" fmla="*/ 6 w 1103"/>
              <a:gd name="T69" fmla="*/ 530 h 986"/>
              <a:gd name="T70" fmla="*/ 3 w 1103"/>
              <a:gd name="T71" fmla="*/ 519 h 986"/>
              <a:gd name="T72" fmla="*/ 0 w 1103"/>
              <a:gd name="T73" fmla="*/ 494 h 986"/>
              <a:gd name="T74" fmla="*/ 3 w 1103"/>
              <a:gd name="T75" fmla="*/ 467 h 986"/>
              <a:gd name="T76" fmla="*/ 6 w 1103"/>
              <a:gd name="T77" fmla="*/ 456 h 986"/>
              <a:gd name="T78" fmla="*/ 11 w 1103"/>
              <a:gd name="T79" fmla="*/ 445 h 986"/>
              <a:gd name="T80" fmla="*/ 240 w 1103"/>
              <a:gd name="T81" fmla="*/ 50 h 986"/>
              <a:gd name="T82" fmla="*/ 240 w 1103"/>
              <a:gd name="T83" fmla="*/ 50 h 986"/>
              <a:gd name="T84" fmla="*/ 245 w 1103"/>
              <a:gd name="T85" fmla="*/ 39 h 986"/>
              <a:gd name="T86" fmla="*/ 254 w 1103"/>
              <a:gd name="T87" fmla="*/ 30 h 986"/>
              <a:gd name="T88" fmla="*/ 276 w 1103"/>
              <a:gd name="T89" fmla="*/ 14 h 986"/>
              <a:gd name="T90" fmla="*/ 298 w 1103"/>
              <a:gd name="T91" fmla="*/ 6 h 986"/>
              <a:gd name="T92" fmla="*/ 309 w 1103"/>
              <a:gd name="T93" fmla="*/ 3 h 986"/>
              <a:gd name="T94" fmla="*/ 323 w 1103"/>
              <a:gd name="T95" fmla="*/ 0 h 986"/>
              <a:gd name="T96" fmla="*/ 780 w 1103"/>
              <a:gd name="T9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03" h="986">
                <a:moveTo>
                  <a:pt x="780" y="0"/>
                </a:moveTo>
                <a:lnTo>
                  <a:pt x="780" y="0"/>
                </a:lnTo>
                <a:lnTo>
                  <a:pt x="791" y="3"/>
                </a:lnTo>
                <a:lnTo>
                  <a:pt x="802" y="6"/>
                </a:lnTo>
                <a:lnTo>
                  <a:pt x="827" y="14"/>
                </a:lnTo>
                <a:lnTo>
                  <a:pt x="847" y="30"/>
                </a:lnTo>
                <a:lnTo>
                  <a:pt x="855" y="39"/>
                </a:lnTo>
                <a:lnTo>
                  <a:pt x="863" y="50"/>
                </a:lnTo>
                <a:lnTo>
                  <a:pt x="1089" y="445"/>
                </a:lnTo>
                <a:lnTo>
                  <a:pt x="1089" y="445"/>
                </a:lnTo>
                <a:lnTo>
                  <a:pt x="1095" y="456"/>
                </a:lnTo>
                <a:lnTo>
                  <a:pt x="1100" y="467"/>
                </a:lnTo>
                <a:lnTo>
                  <a:pt x="1103" y="494"/>
                </a:lnTo>
                <a:lnTo>
                  <a:pt x="1100" y="519"/>
                </a:lnTo>
                <a:lnTo>
                  <a:pt x="1095" y="530"/>
                </a:lnTo>
                <a:lnTo>
                  <a:pt x="1089" y="541"/>
                </a:lnTo>
                <a:lnTo>
                  <a:pt x="863" y="939"/>
                </a:lnTo>
                <a:lnTo>
                  <a:pt x="863" y="939"/>
                </a:lnTo>
                <a:lnTo>
                  <a:pt x="855" y="947"/>
                </a:lnTo>
                <a:lnTo>
                  <a:pt x="847" y="956"/>
                </a:lnTo>
                <a:lnTo>
                  <a:pt x="827" y="972"/>
                </a:lnTo>
                <a:lnTo>
                  <a:pt x="802" y="983"/>
                </a:lnTo>
                <a:lnTo>
                  <a:pt x="791" y="986"/>
                </a:lnTo>
                <a:lnTo>
                  <a:pt x="780" y="986"/>
                </a:lnTo>
                <a:lnTo>
                  <a:pt x="323" y="986"/>
                </a:lnTo>
                <a:lnTo>
                  <a:pt x="323" y="986"/>
                </a:lnTo>
                <a:lnTo>
                  <a:pt x="309" y="986"/>
                </a:lnTo>
                <a:lnTo>
                  <a:pt x="298" y="983"/>
                </a:lnTo>
                <a:lnTo>
                  <a:pt x="276" y="972"/>
                </a:lnTo>
                <a:lnTo>
                  <a:pt x="254" y="956"/>
                </a:lnTo>
                <a:lnTo>
                  <a:pt x="245" y="947"/>
                </a:lnTo>
                <a:lnTo>
                  <a:pt x="240" y="939"/>
                </a:lnTo>
                <a:lnTo>
                  <a:pt x="11" y="541"/>
                </a:lnTo>
                <a:lnTo>
                  <a:pt x="11" y="541"/>
                </a:lnTo>
                <a:lnTo>
                  <a:pt x="6" y="530"/>
                </a:lnTo>
                <a:lnTo>
                  <a:pt x="3" y="519"/>
                </a:lnTo>
                <a:lnTo>
                  <a:pt x="0" y="494"/>
                </a:lnTo>
                <a:lnTo>
                  <a:pt x="3" y="467"/>
                </a:lnTo>
                <a:lnTo>
                  <a:pt x="6" y="456"/>
                </a:lnTo>
                <a:lnTo>
                  <a:pt x="11" y="445"/>
                </a:lnTo>
                <a:lnTo>
                  <a:pt x="240" y="50"/>
                </a:lnTo>
                <a:lnTo>
                  <a:pt x="240" y="50"/>
                </a:lnTo>
                <a:lnTo>
                  <a:pt x="245" y="39"/>
                </a:lnTo>
                <a:lnTo>
                  <a:pt x="254" y="30"/>
                </a:lnTo>
                <a:lnTo>
                  <a:pt x="276" y="14"/>
                </a:lnTo>
                <a:lnTo>
                  <a:pt x="298" y="6"/>
                </a:lnTo>
                <a:lnTo>
                  <a:pt x="309" y="3"/>
                </a:lnTo>
                <a:lnTo>
                  <a:pt x="323" y="0"/>
                </a:lnTo>
                <a:lnTo>
                  <a:pt x="780" y="0"/>
                </a:lnTo>
                <a:close/>
              </a:path>
            </a:pathLst>
          </a:custGeom>
          <a:solidFill>
            <a:schemeClr val="bg1"/>
          </a:solidFill>
          <a:ln w="25400" cap="flat" cmpd="sng" algn="ctr">
            <a:gradFill>
              <a:gsLst>
                <a:gs pos="7000">
                  <a:schemeClr val="accent2"/>
                </a:gs>
                <a:gs pos="50000">
                  <a:schemeClr val="accent5"/>
                </a:gs>
                <a:gs pos="100000">
                  <a:schemeClr val="accent4"/>
                </a:gs>
              </a:gsLst>
              <a:lin ang="300000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r>
              <a:rPr lang="en-US" sz="1400" b="1" dirty="0">
                <a:solidFill>
                  <a:schemeClr val="accent5"/>
                </a:solidFill>
              </a:rPr>
              <a:t>Sets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CADDAF7-9DEA-2339-C73A-5B6A51DCF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5" y="1787591"/>
            <a:ext cx="2349500" cy="2667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1ABC5FD-8698-7676-96E3-11C56EE4F5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475" y="2166209"/>
            <a:ext cx="3022600" cy="228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34E3B5A-F7B4-A248-35F5-187E7DCFAE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4475" y="3009890"/>
            <a:ext cx="4578849" cy="10572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9233929-D86B-04B9-23A7-F97ED3BAC3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4475" y="4512947"/>
            <a:ext cx="4359453" cy="203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101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A9C510-B57B-D7A1-D259-438DCD5A7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4945B18A-1F65-2296-918A-50AE45FE4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BFA5EC-CB69-08CD-FE63-13F748149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0045" y="1346200"/>
            <a:ext cx="5624118" cy="3284538"/>
          </a:xfrm>
        </p:spPr>
        <p:txBody>
          <a:bodyPr anchor="b">
            <a:normAutofit/>
          </a:bodyPr>
          <a:lstStyle/>
          <a:p>
            <a:pPr algn="l"/>
            <a:r>
              <a:rPr lang="en-US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Pipelines and Transactions</a:t>
            </a: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09D164DF-38AD-1679-9764-B15DE26F2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493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E13520A4-785A-F1C4-A07B-0623F1CFF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5575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CCDCC5-4CEF-961D-37A4-189CC2B5D2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89"/>
          <a:stretch/>
        </p:blipFill>
        <p:spPr>
          <a:xfrm>
            <a:off x="-1507" y="10"/>
            <a:ext cx="5205951" cy="6857990"/>
          </a:xfrm>
          <a:custGeom>
            <a:avLst/>
            <a:gdLst/>
            <a:ahLst/>
            <a:cxnLst/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8F49B63D-2A64-7E90-0452-E8039DDF1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59072" y="0"/>
            <a:ext cx="2845372" cy="6858000"/>
          </a:xfrm>
          <a:custGeom>
            <a:avLst/>
            <a:gdLst>
              <a:gd name="connsiteX0" fmla="*/ 939908 w 2845372"/>
              <a:gd name="connsiteY0" fmla="*/ 0 h 6858000"/>
              <a:gd name="connsiteX1" fmla="*/ 1222349 w 2845372"/>
              <a:gd name="connsiteY1" fmla="*/ 0 h 6858000"/>
              <a:gd name="connsiteX2" fmla="*/ 1244473 w 2845372"/>
              <a:gd name="connsiteY2" fmla="*/ 14997 h 6858000"/>
              <a:gd name="connsiteX3" fmla="*/ 2845372 w 2845372"/>
              <a:gd name="connsiteY3" fmla="*/ 3621656 h 6858000"/>
              <a:gd name="connsiteX4" fmla="*/ 971022 w 2845372"/>
              <a:gd name="connsiteY4" fmla="*/ 6374814 h 6858000"/>
              <a:gd name="connsiteX5" fmla="*/ 454374 w 2845372"/>
              <a:gd name="connsiteY5" fmla="*/ 6780599 h 6858000"/>
              <a:gd name="connsiteX6" fmla="*/ 342618 w 2845372"/>
              <a:gd name="connsiteY6" fmla="*/ 6858000 h 6858000"/>
              <a:gd name="connsiteX7" fmla="*/ 129116 w 2845372"/>
              <a:gd name="connsiteY7" fmla="*/ 6858000 h 6858000"/>
              <a:gd name="connsiteX8" fmla="*/ 0 w 2845372"/>
              <a:gd name="connsiteY8" fmla="*/ 6858000 h 6858000"/>
              <a:gd name="connsiteX9" fmla="*/ 119401 w 2845372"/>
              <a:gd name="connsiteY9" fmla="*/ 6780599 h 6858000"/>
              <a:gd name="connsiteX10" fmla="*/ 671389 w 2845372"/>
              <a:gd name="connsiteY10" fmla="*/ 6374814 h 6858000"/>
              <a:gd name="connsiteX11" fmla="*/ 2673952 w 2845372"/>
              <a:gd name="connsiteY11" fmla="*/ 3621656 h 6858000"/>
              <a:gd name="connsiteX12" fmla="*/ 963545 w 2845372"/>
              <a:gd name="connsiteY12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45372" h="6858000">
                <a:moveTo>
                  <a:pt x="939908" y="0"/>
                </a:moveTo>
                <a:lnTo>
                  <a:pt x="1222349" y="0"/>
                </a:lnTo>
                <a:lnTo>
                  <a:pt x="1244473" y="14997"/>
                </a:lnTo>
                <a:cubicBezTo>
                  <a:pt x="2271636" y="754641"/>
                  <a:pt x="2845372" y="2093192"/>
                  <a:pt x="2845372" y="3621656"/>
                </a:cubicBezTo>
                <a:cubicBezTo>
                  <a:pt x="2845372" y="4969131"/>
                  <a:pt x="1916647" y="5602839"/>
                  <a:pt x="971022" y="6374814"/>
                </a:cubicBezTo>
                <a:cubicBezTo>
                  <a:pt x="798819" y="6515397"/>
                  <a:pt x="628192" y="6653108"/>
                  <a:pt x="454374" y="6780599"/>
                </a:cubicBezTo>
                <a:lnTo>
                  <a:pt x="342618" y="6858000"/>
                </a:lnTo>
                <a:lnTo>
                  <a:pt x="129116" y="6858000"/>
                </a:lnTo>
                <a:lnTo>
                  <a:pt x="0" y="6858000"/>
                </a:lnTo>
                <a:lnTo>
                  <a:pt x="119401" y="6780599"/>
                </a:lnTo>
                <a:cubicBezTo>
                  <a:pt x="305108" y="6653108"/>
                  <a:pt x="487407" y="6515397"/>
                  <a:pt x="671389" y="6374814"/>
                </a:cubicBezTo>
                <a:cubicBezTo>
                  <a:pt x="1681699" y="5602839"/>
                  <a:pt x="2673952" y="4969131"/>
                  <a:pt x="2673952" y="3621656"/>
                </a:cubicBezTo>
                <a:cubicBezTo>
                  <a:pt x="2673952" y="2093192"/>
                  <a:pt x="2060970" y="754641"/>
                  <a:pt x="963545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8F728838-FA25-504A-B8D9-D935C4B85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078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2EA1F-31C9-B8A1-1B2A-D0B7AA1A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2BD2171-EB0C-6637-9808-10691A312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ue and white sky&#10;&#10;Description automatically generated">
            <a:extLst>
              <a:ext uri="{FF2B5EF4-FFF2-40B4-BE49-F238E27FC236}">
                <a16:creationId xmlns:a16="http://schemas.microsoft.com/office/drawing/2014/main" id="{F2768597-BB33-9BFF-EA7E-E4C9F8A0D5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6237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7DEAD93-B269-F264-F9C1-77C79BC11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8BAFD-9138-31EA-4AD5-1C12B5D32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94" y="224816"/>
            <a:ext cx="9132570" cy="912441"/>
          </a:xfrm>
        </p:spPr>
        <p:txBody>
          <a:bodyPr>
            <a:normAutofit/>
          </a:bodyPr>
          <a:lstStyle/>
          <a:p>
            <a:r>
              <a:rPr lang="en-US" sz="54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Pipelines</a:t>
            </a:r>
            <a:endParaRPr lang="en-US" sz="40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C869E6FB-D320-9C9E-4719-7D24A42E6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12E6721-8524-1777-F051-7754B9B96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Used to reduce the number of round trips to the Redis server.</a:t>
            </a:r>
          </a:p>
          <a:p>
            <a:pPr marL="0" indent="0">
              <a:buNone/>
            </a:pPr>
            <a:endParaRPr lang="en-UA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5E6F8F-C17E-B438-CCCC-315F3D848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2357" y="2706028"/>
            <a:ext cx="7843373" cy="207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163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2EA1F-31C9-B8A1-1B2A-D0B7AA1A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2BD2171-EB0C-6637-9808-10691A312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ue and white sky&#10;&#10;Description automatically generated">
            <a:extLst>
              <a:ext uri="{FF2B5EF4-FFF2-40B4-BE49-F238E27FC236}">
                <a16:creationId xmlns:a16="http://schemas.microsoft.com/office/drawing/2014/main" id="{F2768597-BB33-9BFF-EA7E-E4C9F8A0D5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6237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7DEAD93-B269-F264-F9C1-77C79BC11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8BAFD-9138-31EA-4AD5-1C12B5D32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94" y="224816"/>
            <a:ext cx="9132570" cy="912441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Transactions</a:t>
            </a:r>
            <a:endParaRPr lang="en-US" sz="40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C869E6FB-D320-9C9E-4719-7D24A42E6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12E6721-8524-1777-F051-7754B9B96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Ensures atomic execution of a series of commands.</a:t>
            </a:r>
          </a:p>
          <a:p>
            <a:pPr marL="0" indent="0">
              <a:buNone/>
            </a:pPr>
            <a:endParaRPr lang="en-U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1DCABF-9844-3513-EFF7-BFDDBF5B11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2889" y="2781299"/>
            <a:ext cx="7883171" cy="197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42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A9C510-B57B-D7A1-D259-438DCD5A7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4945B18A-1F65-2296-918A-50AE45FE4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BFA5EC-CB69-08CD-FE63-13F748149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0045" y="1346200"/>
            <a:ext cx="5624118" cy="3284538"/>
          </a:xfrm>
        </p:spPr>
        <p:txBody>
          <a:bodyPr anchor="b">
            <a:normAutofit/>
          </a:bodyPr>
          <a:lstStyle/>
          <a:p>
            <a:pPr algn="l"/>
            <a:r>
              <a:rPr lang="en-US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Lua Scripts in Redis</a:t>
            </a: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09D164DF-38AD-1679-9764-B15DE26F2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493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E13520A4-785A-F1C4-A07B-0623F1CFF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5575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CCDCC5-4CEF-961D-37A4-189CC2B5D2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89"/>
          <a:stretch/>
        </p:blipFill>
        <p:spPr>
          <a:xfrm>
            <a:off x="-1507" y="10"/>
            <a:ext cx="5205951" cy="6857990"/>
          </a:xfrm>
          <a:custGeom>
            <a:avLst/>
            <a:gdLst/>
            <a:ahLst/>
            <a:cxnLst/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8F49B63D-2A64-7E90-0452-E8039DDF1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59072" y="0"/>
            <a:ext cx="2845372" cy="6858000"/>
          </a:xfrm>
          <a:custGeom>
            <a:avLst/>
            <a:gdLst>
              <a:gd name="connsiteX0" fmla="*/ 939908 w 2845372"/>
              <a:gd name="connsiteY0" fmla="*/ 0 h 6858000"/>
              <a:gd name="connsiteX1" fmla="*/ 1222349 w 2845372"/>
              <a:gd name="connsiteY1" fmla="*/ 0 h 6858000"/>
              <a:gd name="connsiteX2" fmla="*/ 1244473 w 2845372"/>
              <a:gd name="connsiteY2" fmla="*/ 14997 h 6858000"/>
              <a:gd name="connsiteX3" fmla="*/ 2845372 w 2845372"/>
              <a:gd name="connsiteY3" fmla="*/ 3621656 h 6858000"/>
              <a:gd name="connsiteX4" fmla="*/ 971022 w 2845372"/>
              <a:gd name="connsiteY4" fmla="*/ 6374814 h 6858000"/>
              <a:gd name="connsiteX5" fmla="*/ 454374 w 2845372"/>
              <a:gd name="connsiteY5" fmla="*/ 6780599 h 6858000"/>
              <a:gd name="connsiteX6" fmla="*/ 342618 w 2845372"/>
              <a:gd name="connsiteY6" fmla="*/ 6858000 h 6858000"/>
              <a:gd name="connsiteX7" fmla="*/ 129116 w 2845372"/>
              <a:gd name="connsiteY7" fmla="*/ 6858000 h 6858000"/>
              <a:gd name="connsiteX8" fmla="*/ 0 w 2845372"/>
              <a:gd name="connsiteY8" fmla="*/ 6858000 h 6858000"/>
              <a:gd name="connsiteX9" fmla="*/ 119401 w 2845372"/>
              <a:gd name="connsiteY9" fmla="*/ 6780599 h 6858000"/>
              <a:gd name="connsiteX10" fmla="*/ 671389 w 2845372"/>
              <a:gd name="connsiteY10" fmla="*/ 6374814 h 6858000"/>
              <a:gd name="connsiteX11" fmla="*/ 2673952 w 2845372"/>
              <a:gd name="connsiteY11" fmla="*/ 3621656 h 6858000"/>
              <a:gd name="connsiteX12" fmla="*/ 963545 w 2845372"/>
              <a:gd name="connsiteY12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45372" h="6858000">
                <a:moveTo>
                  <a:pt x="939908" y="0"/>
                </a:moveTo>
                <a:lnTo>
                  <a:pt x="1222349" y="0"/>
                </a:lnTo>
                <a:lnTo>
                  <a:pt x="1244473" y="14997"/>
                </a:lnTo>
                <a:cubicBezTo>
                  <a:pt x="2271636" y="754641"/>
                  <a:pt x="2845372" y="2093192"/>
                  <a:pt x="2845372" y="3621656"/>
                </a:cubicBezTo>
                <a:cubicBezTo>
                  <a:pt x="2845372" y="4969131"/>
                  <a:pt x="1916647" y="5602839"/>
                  <a:pt x="971022" y="6374814"/>
                </a:cubicBezTo>
                <a:cubicBezTo>
                  <a:pt x="798819" y="6515397"/>
                  <a:pt x="628192" y="6653108"/>
                  <a:pt x="454374" y="6780599"/>
                </a:cubicBezTo>
                <a:lnTo>
                  <a:pt x="342618" y="6858000"/>
                </a:lnTo>
                <a:lnTo>
                  <a:pt x="129116" y="6858000"/>
                </a:lnTo>
                <a:lnTo>
                  <a:pt x="0" y="6858000"/>
                </a:lnTo>
                <a:lnTo>
                  <a:pt x="119401" y="6780599"/>
                </a:lnTo>
                <a:cubicBezTo>
                  <a:pt x="305108" y="6653108"/>
                  <a:pt x="487407" y="6515397"/>
                  <a:pt x="671389" y="6374814"/>
                </a:cubicBezTo>
                <a:cubicBezTo>
                  <a:pt x="1681699" y="5602839"/>
                  <a:pt x="2673952" y="4969131"/>
                  <a:pt x="2673952" y="3621656"/>
                </a:cubicBezTo>
                <a:cubicBezTo>
                  <a:pt x="2673952" y="2093192"/>
                  <a:pt x="2060970" y="754641"/>
                  <a:pt x="963545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8F728838-FA25-504A-B8D9-D935C4B85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430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2EA1F-31C9-B8A1-1B2A-D0B7AA1A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2BD2171-EB0C-6637-9808-10691A312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ue and white sky&#10;&#10;Description automatically generated">
            <a:extLst>
              <a:ext uri="{FF2B5EF4-FFF2-40B4-BE49-F238E27FC236}">
                <a16:creationId xmlns:a16="http://schemas.microsoft.com/office/drawing/2014/main" id="{F2768597-BB33-9BFF-EA7E-E4C9F8A0D5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6237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7DEAD93-B269-F264-F9C1-77C79BC11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8BAFD-9138-31EA-4AD5-1C12B5D32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94" y="224816"/>
            <a:ext cx="9132570" cy="912441"/>
          </a:xfrm>
        </p:spPr>
        <p:txBody>
          <a:bodyPr>
            <a:noAutofit/>
          </a:bodyPr>
          <a:lstStyle/>
          <a:p>
            <a:r>
              <a:rPr lang="en-US" sz="54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Lua Scripts in Redis</a:t>
            </a:r>
            <a:endParaRPr lang="en-US" sz="24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C869E6FB-D320-9C9E-4719-7D24A42E6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12E6721-8524-1777-F051-7754B9B96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5" y="1253331"/>
            <a:ext cx="10515600" cy="4351338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Lua scripting allows you to run server-side scripts in Redis for atomic operations.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Key Benefits: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Minimized network round-trips.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Atomic execution.</a:t>
            </a:r>
          </a:p>
          <a:p>
            <a:pPr marL="0" indent="0">
              <a:buNone/>
            </a:pPr>
            <a:endParaRPr lang="en-U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F1B85B-5405-B38B-1205-ED659DFBB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044" y="2054131"/>
            <a:ext cx="48260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936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A9C510-B57B-D7A1-D259-438DCD5A7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4945B18A-1F65-2296-918A-50AE45FE4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BFA5EC-CB69-08CD-FE63-13F748149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8400" y="2568878"/>
            <a:ext cx="5624118" cy="860122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Rate Limiter</a:t>
            </a: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09D164DF-38AD-1679-9764-B15DE26F2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493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E13520A4-785A-F1C4-A07B-0623F1CFF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5575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CCDCC5-4CEF-961D-37A4-189CC2B5D2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89"/>
          <a:stretch/>
        </p:blipFill>
        <p:spPr>
          <a:xfrm>
            <a:off x="-1507" y="10"/>
            <a:ext cx="5205951" cy="6857990"/>
          </a:xfrm>
          <a:custGeom>
            <a:avLst/>
            <a:gdLst/>
            <a:ahLst/>
            <a:cxnLst/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8F49B63D-2A64-7E90-0452-E8039DDF1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59072" y="0"/>
            <a:ext cx="2845372" cy="6858000"/>
          </a:xfrm>
          <a:custGeom>
            <a:avLst/>
            <a:gdLst>
              <a:gd name="connsiteX0" fmla="*/ 939908 w 2845372"/>
              <a:gd name="connsiteY0" fmla="*/ 0 h 6858000"/>
              <a:gd name="connsiteX1" fmla="*/ 1222349 w 2845372"/>
              <a:gd name="connsiteY1" fmla="*/ 0 h 6858000"/>
              <a:gd name="connsiteX2" fmla="*/ 1244473 w 2845372"/>
              <a:gd name="connsiteY2" fmla="*/ 14997 h 6858000"/>
              <a:gd name="connsiteX3" fmla="*/ 2845372 w 2845372"/>
              <a:gd name="connsiteY3" fmla="*/ 3621656 h 6858000"/>
              <a:gd name="connsiteX4" fmla="*/ 971022 w 2845372"/>
              <a:gd name="connsiteY4" fmla="*/ 6374814 h 6858000"/>
              <a:gd name="connsiteX5" fmla="*/ 454374 w 2845372"/>
              <a:gd name="connsiteY5" fmla="*/ 6780599 h 6858000"/>
              <a:gd name="connsiteX6" fmla="*/ 342618 w 2845372"/>
              <a:gd name="connsiteY6" fmla="*/ 6858000 h 6858000"/>
              <a:gd name="connsiteX7" fmla="*/ 129116 w 2845372"/>
              <a:gd name="connsiteY7" fmla="*/ 6858000 h 6858000"/>
              <a:gd name="connsiteX8" fmla="*/ 0 w 2845372"/>
              <a:gd name="connsiteY8" fmla="*/ 6858000 h 6858000"/>
              <a:gd name="connsiteX9" fmla="*/ 119401 w 2845372"/>
              <a:gd name="connsiteY9" fmla="*/ 6780599 h 6858000"/>
              <a:gd name="connsiteX10" fmla="*/ 671389 w 2845372"/>
              <a:gd name="connsiteY10" fmla="*/ 6374814 h 6858000"/>
              <a:gd name="connsiteX11" fmla="*/ 2673952 w 2845372"/>
              <a:gd name="connsiteY11" fmla="*/ 3621656 h 6858000"/>
              <a:gd name="connsiteX12" fmla="*/ 963545 w 2845372"/>
              <a:gd name="connsiteY12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45372" h="6858000">
                <a:moveTo>
                  <a:pt x="939908" y="0"/>
                </a:moveTo>
                <a:lnTo>
                  <a:pt x="1222349" y="0"/>
                </a:lnTo>
                <a:lnTo>
                  <a:pt x="1244473" y="14997"/>
                </a:lnTo>
                <a:cubicBezTo>
                  <a:pt x="2271636" y="754641"/>
                  <a:pt x="2845372" y="2093192"/>
                  <a:pt x="2845372" y="3621656"/>
                </a:cubicBezTo>
                <a:cubicBezTo>
                  <a:pt x="2845372" y="4969131"/>
                  <a:pt x="1916647" y="5602839"/>
                  <a:pt x="971022" y="6374814"/>
                </a:cubicBezTo>
                <a:cubicBezTo>
                  <a:pt x="798819" y="6515397"/>
                  <a:pt x="628192" y="6653108"/>
                  <a:pt x="454374" y="6780599"/>
                </a:cubicBezTo>
                <a:lnTo>
                  <a:pt x="342618" y="6858000"/>
                </a:lnTo>
                <a:lnTo>
                  <a:pt x="129116" y="6858000"/>
                </a:lnTo>
                <a:lnTo>
                  <a:pt x="0" y="6858000"/>
                </a:lnTo>
                <a:lnTo>
                  <a:pt x="119401" y="6780599"/>
                </a:lnTo>
                <a:cubicBezTo>
                  <a:pt x="305108" y="6653108"/>
                  <a:pt x="487407" y="6515397"/>
                  <a:pt x="671389" y="6374814"/>
                </a:cubicBezTo>
                <a:cubicBezTo>
                  <a:pt x="1681699" y="5602839"/>
                  <a:pt x="2673952" y="4969131"/>
                  <a:pt x="2673952" y="3621656"/>
                </a:cubicBezTo>
                <a:cubicBezTo>
                  <a:pt x="2673952" y="2093192"/>
                  <a:pt x="2060970" y="754641"/>
                  <a:pt x="963545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8F728838-FA25-504A-B8D9-D935C4B85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25989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2EA1F-31C9-B8A1-1B2A-D0B7AA1A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2BD2171-EB0C-6637-9808-10691A312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ue and white sky&#10;&#10;Description automatically generated">
            <a:extLst>
              <a:ext uri="{FF2B5EF4-FFF2-40B4-BE49-F238E27FC236}">
                <a16:creationId xmlns:a16="http://schemas.microsoft.com/office/drawing/2014/main" id="{F2768597-BB33-9BFF-EA7E-E4C9F8A0D5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6237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7DEAD93-B269-F264-F9C1-77C79BC11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8BAFD-9138-31EA-4AD5-1C12B5D32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94" y="224816"/>
            <a:ext cx="9132570" cy="912441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What is Rate Limiting</a:t>
            </a:r>
            <a:endParaRPr lang="en-US" sz="40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C869E6FB-D320-9C9E-4719-7D24A42E6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12E6721-8524-1777-F051-7754B9B96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8943"/>
            <a:ext cx="10515600" cy="3968019"/>
          </a:xfrm>
        </p:spPr>
        <p:txBody>
          <a:bodyPr/>
          <a:lstStyle/>
          <a:p>
            <a:pPr marL="0" indent="0" algn="l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Space Grotesk"/>
              </a:rPr>
              <a:t>Rate Limiting entails techniques to regulate the number of requests a particular client can make against a networked service. It caps the total number and/or the frequency of requests.</a:t>
            </a:r>
            <a:endParaRPr lang="en-UA" dirty="0"/>
          </a:p>
        </p:txBody>
      </p:sp>
    </p:spTree>
    <p:extLst>
      <p:ext uri="{BB962C8B-B14F-4D97-AF65-F5344CB8AC3E}">
        <p14:creationId xmlns:p14="http://schemas.microsoft.com/office/powerpoint/2010/main" val="731202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2EA1F-31C9-B8A1-1B2A-D0B7AA1A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2BD2171-EB0C-6637-9808-10691A312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ue and white sky&#10;&#10;Description automatically generated">
            <a:extLst>
              <a:ext uri="{FF2B5EF4-FFF2-40B4-BE49-F238E27FC236}">
                <a16:creationId xmlns:a16="http://schemas.microsoft.com/office/drawing/2014/main" id="{F2768597-BB33-9BFF-EA7E-E4C9F8A0D5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6237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7DEAD93-B269-F264-F9C1-77C79BC11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8BAFD-9138-31EA-4AD5-1C12B5D32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94" y="224816"/>
            <a:ext cx="9132570" cy="912441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Fixed Window Algorithm</a:t>
            </a:r>
            <a:endParaRPr lang="en-US" sz="40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C869E6FB-D320-9C9E-4719-7D24A42E6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12E6721-8524-1777-F051-7754B9B96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8943"/>
            <a:ext cx="10515600" cy="3968019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Divides time into fixed intervals (e.g., 1 minute).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Pros: Simple implementation.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Cons: Potential for burst traffic at interval edges.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Useful command in Jedis:</a:t>
            </a:r>
          </a:p>
          <a:p>
            <a:pPr marL="0" indent="0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INCR and EXPIRE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5799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2EA1F-31C9-B8A1-1B2A-D0B7AA1A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2BD2171-EB0C-6637-9808-10691A312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ue and white sky&#10;&#10;Description automatically generated">
            <a:extLst>
              <a:ext uri="{FF2B5EF4-FFF2-40B4-BE49-F238E27FC236}">
                <a16:creationId xmlns:a16="http://schemas.microsoft.com/office/drawing/2014/main" id="{F2768597-BB33-9BFF-EA7E-E4C9F8A0D5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6237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7DEAD93-B269-F264-F9C1-77C79BC11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8BAFD-9138-31EA-4AD5-1C12B5D32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94" y="224816"/>
            <a:ext cx="9132570" cy="912441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Fixed Window Algorithm</a:t>
            </a:r>
            <a:endParaRPr lang="en-US" sz="40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C869E6FB-D320-9C9E-4719-7D24A42E6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A56234-DC09-E3C9-7225-F70AC0A70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146" y="2042205"/>
            <a:ext cx="8401708" cy="364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861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2EA1F-31C9-B8A1-1B2A-D0B7AA1A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2BD2171-EB0C-6637-9808-10691A312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ue and white sky&#10;&#10;Description automatically generated">
            <a:extLst>
              <a:ext uri="{FF2B5EF4-FFF2-40B4-BE49-F238E27FC236}">
                <a16:creationId xmlns:a16="http://schemas.microsoft.com/office/drawing/2014/main" id="{F2768597-BB33-9BFF-EA7E-E4C9F8A0D5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6237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7DEAD93-B269-F264-F9C1-77C79BC11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8BAFD-9138-31EA-4AD5-1C12B5D32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94" y="224816"/>
            <a:ext cx="9132570" cy="912441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Sliding Window Algorithm</a:t>
            </a:r>
            <a:endParaRPr lang="en-US" sz="40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C869E6FB-D320-9C9E-4719-7D24A42E6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12E6721-8524-1777-F051-7754B9B96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8943"/>
            <a:ext cx="10515600" cy="3968019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Allows smoother rate limiting by sliding the window dynamically.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Uses sorted sets with timestamps.</a:t>
            </a:r>
          </a:p>
          <a:p>
            <a:pPr marL="0" indent="0" algn="l">
              <a:buNone/>
            </a:pPr>
            <a:endParaRPr lang="en-GB" dirty="0">
              <a:solidFill>
                <a:srgbClr val="000000"/>
              </a:solidFill>
            </a:endParaRPr>
          </a:p>
          <a:p>
            <a:pPr marL="0" indent="0" algn="l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Useful command in Jedis:</a:t>
            </a:r>
          </a:p>
          <a:p>
            <a:pPr marL="0" indent="0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 ZADD, ZREMRANGEBYSCORE, and ZCARD.</a:t>
            </a:r>
          </a:p>
          <a:p>
            <a:pPr marL="0" indent="0" algn="l">
              <a:buNone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85149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2EA1F-31C9-B8A1-1B2A-D0B7AA1A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2BD2171-EB0C-6637-9808-10691A312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ue and white sky&#10;&#10;Description automatically generated">
            <a:extLst>
              <a:ext uri="{FF2B5EF4-FFF2-40B4-BE49-F238E27FC236}">
                <a16:creationId xmlns:a16="http://schemas.microsoft.com/office/drawing/2014/main" id="{F2768597-BB33-9BFF-EA7E-E4C9F8A0D5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6237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7DEAD93-B269-F264-F9C1-77C79BC11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8BAFD-9138-31EA-4AD5-1C12B5D32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94" y="224816"/>
            <a:ext cx="9132570" cy="912441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Sliding Window Algorithm</a:t>
            </a:r>
            <a:endParaRPr lang="en-US" sz="40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C869E6FB-D320-9C9E-4719-7D24A42E6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120238-2765-7729-6FF1-0E08418F1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2357" y="2325812"/>
            <a:ext cx="69342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443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2EA1F-31C9-B8A1-1B2A-D0B7AA1A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2BD2171-EB0C-6637-9808-10691A312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ue and white sky&#10;&#10;Description automatically generated">
            <a:extLst>
              <a:ext uri="{FF2B5EF4-FFF2-40B4-BE49-F238E27FC236}">
                <a16:creationId xmlns:a16="http://schemas.microsoft.com/office/drawing/2014/main" id="{F2768597-BB33-9BFF-EA7E-E4C9F8A0D5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6237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7DEAD93-B269-F264-F9C1-77C79BC11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8BAFD-9138-31EA-4AD5-1C12B5D32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94" y="224816"/>
            <a:ext cx="9132570" cy="912441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Sliding Window Algorithm</a:t>
            </a:r>
            <a:endParaRPr lang="en-US" sz="40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C869E6FB-D320-9C9E-4719-7D24A42E6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83B79A-4E83-5D2F-4147-FF861AFAB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6043" y="2257331"/>
            <a:ext cx="72136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995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2EA1F-31C9-B8A1-1B2A-D0B7AA1A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2BD2171-EB0C-6637-9808-10691A312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ue and white sky&#10;&#10;Description automatically generated">
            <a:extLst>
              <a:ext uri="{FF2B5EF4-FFF2-40B4-BE49-F238E27FC236}">
                <a16:creationId xmlns:a16="http://schemas.microsoft.com/office/drawing/2014/main" id="{F2768597-BB33-9BFF-EA7E-E4C9F8A0D5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6237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7DEAD93-B269-F264-F9C1-77C79BC11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8BAFD-9138-31EA-4AD5-1C12B5D32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94" y="224816"/>
            <a:ext cx="9132570" cy="912441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Sliding Window Algorithm</a:t>
            </a:r>
            <a:endParaRPr lang="en-US" sz="40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C869E6FB-D320-9C9E-4719-7D24A42E6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EA8D52-3668-7A6D-F6B0-431025066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2425" y="2117631"/>
            <a:ext cx="7404100" cy="298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624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2EA1F-31C9-B8A1-1B2A-D0B7AA1A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2BD2171-EB0C-6637-9808-10691A312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ue and white sky&#10;&#10;Description automatically generated">
            <a:extLst>
              <a:ext uri="{FF2B5EF4-FFF2-40B4-BE49-F238E27FC236}">
                <a16:creationId xmlns:a16="http://schemas.microsoft.com/office/drawing/2014/main" id="{F2768597-BB33-9BFF-EA7E-E4C9F8A0D5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6237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7DEAD93-B269-F264-F9C1-77C79BC11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8BAFD-9138-31EA-4AD5-1C12B5D32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94" y="224816"/>
            <a:ext cx="9132570" cy="912441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Sliding Window Algorithm</a:t>
            </a:r>
            <a:endParaRPr lang="en-US" sz="40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C869E6FB-D320-9C9E-4719-7D24A42E6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AE8803-E093-5939-A0F9-4DEC6DB8F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2725" y="2244631"/>
            <a:ext cx="76835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134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2EA1F-31C9-B8A1-1B2A-D0B7AA1A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2BD2171-EB0C-6637-9808-10691A312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ue and white sky&#10;&#10;Description automatically generated">
            <a:extLst>
              <a:ext uri="{FF2B5EF4-FFF2-40B4-BE49-F238E27FC236}">
                <a16:creationId xmlns:a16="http://schemas.microsoft.com/office/drawing/2014/main" id="{F2768597-BB33-9BFF-EA7E-E4C9F8A0D5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6237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7DEAD93-B269-F264-F9C1-77C79BC11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8BAFD-9138-31EA-4AD5-1C12B5D32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94" y="224816"/>
            <a:ext cx="9132570" cy="912441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Sliding Window Algorithm</a:t>
            </a:r>
            <a:endParaRPr lang="en-US" sz="40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C869E6FB-D320-9C9E-4719-7D24A42E6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D75376-6F88-5F5F-888F-5A634FCFF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029" y="2159263"/>
            <a:ext cx="74295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2442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356ED-BDC8-8E55-5E45-5EDF3E9F3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" name="Rectangle 102">
            <a:extLst>
              <a:ext uri="{FF2B5EF4-FFF2-40B4-BE49-F238E27FC236}">
                <a16:creationId xmlns:a16="http://schemas.microsoft.com/office/drawing/2014/main" id="{96CF2A2B-0745-440C-9224-C5C6A0A42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5BE6D6B-84C9-4D2B-97EB-773B7369E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D9452A-42A3-5C81-969E-D3EB96B075E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l="2404" r="2486" b="1"/>
          <a:stretch/>
        </p:blipFill>
        <p:spPr>
          <a:xfrm>
            <a:off x="-3049" y="297961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3499B-6632-C847-3059-0D6B6E4CE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181" y="728906"/>
            <a:ext cx="9792471" cy="20570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7200" b="1" dirty="0"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67000">
                      <a:schemeClr val="accent5">
                        <a:lumMod val="60000"/>
                        <a:lumOff val="40000"/>
                      </a:schemeClr>
                    </a:gs>
                    <a:gs pos="42000">
                      <a:schemeClr val="tx2">
                        <a:lumMod val="25000"/>
                        <a:lumOff val="75000"/>
                      </a:schemeClr>
                    </a:gs>
                    <a:gs pos="86000">
                      <a:schemeClr val="accent4">
                        <a:lumMod val="40000"/>
                        <a:lumOff val="6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Thank</a:t>
            </a:r>
            <a:r>
              <a:rPr lang="en-US" sz="4400" dirty="0">
                <a:solidFill>
                  <a:srgbClr val="FFFFFF"/>
                </a:solidFill>
              </a:rPr>
              <a:t> </a:t>
            </a:r>
            <a:r>
              <a:rPr lang="en-US" sz="7200" b="1" dirty="0"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67000">
                      <a:schemeClr val="accent5">
                        <a:lumMod val="60000"/>
                        <a:lumOff val="40000"/>
                      </a:schemeClr>
                    </a:gs>
                    <a:gs pos="42000">
                      <a:schemeClr val="tx2">
                        <a:lumMod val="25000"/>
                        <a:lumOff val="75000"/>
                      </a:schemeClr>
                    </a:gs>
                    <a:gs pos="86000">
                      <a:schemeClr val="accent4">
                        <a:lumMod val="40000"/>
                        <a:lumOff val="6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4DFFA432-BF58-062C-8A02-3378C32AD9B8}"/>
              </a:ext>
            </a:extLst>
          </p:cNvPr>
          <p:cNvSpPr txBox="1">
            <a:spLocks/>
          </p:cNvSpPr>
          <p:nvPr/>
        </p:nvSpPr>
        <p:spPr>
          <a:xfrm>
            <a:off x="1198181" y="2957665"/>
            <a:ext cx="9792471" cy="31714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Author: Dmytro </a:t>
            </a:r>
            <a:r>
              <a:rPr lang="en-US" sz="2000" dirty="0" err="1">
                <a:solidFill>
                  <a:srgbClr val="FFFFFF"/>
                </a:solidFill>
              </a:rPr>
              <a:t>Halchenko</a:t>
            </a:r>
            <a:endParaRPr lang="en-US" sz="2000" dirty="0">
              <a:solidFill>
                <a:srgbClr val="FFFFFF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My LinkedIn: </a:t>
            </a:r>
            <a:r>
              <a:rPr lang="en-US" sz="2000" dirty="0">
                <a:solidFill>
                  <a:srgbClr val="FFFFFF"/>
                </a:solidFill>
                <a:hlinkClick r:id="rId4"/>
              </a:rPr>
              <a:t>https://www.linkedin.com/in/dmytro-halchenko-0307751b6/</a:t>
            </a:r>
            <a:endParaRPr lang="en-US" sz="2000" dirty="0">
              <a:solidFill>
                <a:srgbClr val="FFFFFF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Date: January 2025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hlinkClick r:id="rId5"/>
              </a:rPr>
              <a:t>Join Codeus community in Discord</a:t>
            </a:r>
            <a:endParaRPr lang="en-US" sz="2000" dirty="0">
              <a:solidFill>
                <a:srgbClr val="FFFFFF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hlinkClick r:id="rId6"/>
              </a:rPr>
              <a:t>Join Codeus community in LinkedIn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2E830D5-49A2-5EDC-0549-0AE9D01AEA79}"/>
              </a:ext>
            </a:extLst>
          </p:cNvPr>
          <p:cNvSpPr txBox="1">
            <a:spLocks/>
          </p:cNvSpPr>
          <p:nvPr/>
        </p:nvSpPr>
        <p:spPr>
          <a:xfrm>
            <a:off x="990600" y="25866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000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76D6BBAE-B718-8D41-4379-DEC11DEFA0BB}"/>
              </a:ext>
            </a:extLst>
          </p:cNvPr>
          <p:cNvSpPr txBox="1">
            <a:spLocks/>
          </p:cNvSpPr>
          <p:nvPr/>
        </p:nvSpPr>
        <p:spPr>
          <a:xfrm>
            <a:off x="6185170" y="2593087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0945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1628</TotalTime>
  <Words>448</Words>
  <Application>Microsoft Macintosh PowerPoint</Application>
  <PresentationFormat>Widescreen</PresentationFormat>
  <Paragraphs>122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Meiryo</vt:lpstr>
      <vt:lpstr>Aptos</vt:lpstr>
      <vt:lpstr>Aptos Display</vt:lpstr>
      <vt:lpstr>Arial</vt:lpstr>
      <vt:lpstr>Calibri</vt:lpstr>
      <vt:lpstr>Space Grotesk</vt:lpstr>
      <vt:lpstr>Office Theme</vt:lpstr>
      <vt:lpstr>Redis and Rate Limiting with Java </vt:lpstr>
      <vt:lpstr>Redis</vt:lpstr>
      <vt:lpstr>Main Redis Data Types</vt:lpstr>
      <vt:lpstr>Main Redis Data Types</vt:lpstr>
      <vt:lpstr>Main Redis Data Types</vt:lpstr>
      <vt:lpstr>Main Redis Data Types</vt:lpstr>
      <vt:lpstr>Main Redis Data Types</vt:lpstr>
      <vt:lpstr>Pipelines and Transactions</vt:lpstr>
      <vt:lpstr>Pipelines</vt:lpstr>
      <vt:lpstr>Transactions</vt:lpstr>
      <vt:lpstr>Lua Scripts in Redis</vt:lpstr>
      <vt:lpstr>Lua Scripts in Redis</vt:lpstr>
      <vt:lpstr>Rate Limiter</vt:lpstr>
      <vt:lpstr>What is Rate Limiting</vt:lpstr>
      <vt:lpstr>Fixed Window Algorithm</vt:lpstr>
      <vt:lpstr>Fixed Window Algorithm</vt:lpstr>
      <vt:lpstr>Sliding Window Algorithm</vt:lpstr>
      <vt:lpstr>Sliding Window Algorithm</vt:lpstr>
      <vt:lpstr>Sliding Window Algorithm</vt:lpstr>
      <vt:lpstr>Sliding Window Algorithm</vt:lpstr>
      <vt:lpstr>Sliding Window Algorithm</vt:lpstr>
      <vt:lpstr>Sliding Window Algorithm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Redis and Rate Limiting with Java </dc:title>
  <dc:creator>Pavlo Khshanovskyi</dc:creator>
  <cp:lastModifiedBy>Dmytro Halchenko</cp:lastModifiedBy>
  <cp:revision>5</cp:revision>
  <dcterms:created xsi:type="dcterms:W3CDTF">2024-11-29T18:21:01Z</dcterms:created>
  <dcterms:modified xsi:type="dcterms:W3CDTF">2025-01-20T11:08:37Z</dcterms:modified>
</cp:coreProperties>
</file>